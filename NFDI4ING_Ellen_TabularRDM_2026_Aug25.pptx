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4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3" r:id="rId1"/>
    <p:sldMasterId id="2147483738" r:id="rId2"/>
  </p:sldMasterIdLst>
  <p:notesMasterIdLst>
    <p:notesMasterId r:id="rId16"/>
  </p:notesMasterIdLst>
  <p:handoutMasterIdLst>
    <p:handoutMasterId r:id="rId17"/>
  </p:handoutMasterIdLst>
  <p:sldIdLst>
    <p:sldId id="303" r:id="rId3"/>
    <p:sldId id="262" r:id="rId4"/>
    <p:sldId id="263" r:id="rId5"/>
    <p:sldId id="323" r:id="rId6"/>
    <p:sldId id="325" r:id="rId7"/>
    <p:sldId id="328" r:id="rId8"/>
    <p:sldId id="326" r:id="rId9"/>
    <p:sldId id="327" r:id="rId10"/>
    <p:sldId id="324" r:id="rId11"/>
    <p:sldId id="329" r:id="rId12"/>
    <p:sldId id="330" r:id="rId13"/>
    <p:sldId id="331" r:id="rId14"/>
    <p:sldId id="312" r:id="rId15"/>
  </p:sldIdLst>
  <p:sldSz cx="12192000" cy="6858000"/>
  <p:notesSz cx="7099300" cy="10234613"/>
  <p:custDataLst>
    <p:tags r:id="rId18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kob Beetz" initials="JB" lastIdx="1" clrIdx="0">
    <p:extLst>
      <p:ext uri="{19B8F6BF-5375-455C-9EA6-DF929625EA0E}">
        <p15:presenceInfo xmlns:p15="http://schemas.microsoft.com/office/powerpoint/2012/main" userId="S::naqa2kgcfffut5qw@m365.rwth-aachen.de::64def500-73e5-4814-bd44-0622752d42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73741" autoAdjust="0"/>
  </p:normalViewPr>
  <p:slideViewPr>
    <p:cSldViewPr snapToGrid="0" showGuides="1">
      <p:cViewPr>
        <p:scale>
          <a:sx n="110" d="100"/>
          <a:sy n="110" d="100"/>
        </p:scale>
        <p:origin x="1626" y="264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_rels/drawing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Select a CSV or an Excel file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Can you see the right columns?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solidFill>
            <a:srgbClr val="99CCFF"/>
          </a:solidFill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Use the provided </a:t>
          </a:r>
          <a:r>
            <a:rPr lang="en-GB" sz="1600" b="1" dirty="0">
              <a:solidFill>
                <a:schemeClr val="tx1"/>
              </a:solidFill>
            </a:rPr>
            <a:t>sample.csv </a:t>
          </a:r>
          <a:r>
            <a:rPr lang="en-GB" sz="1600" dirty="0">
              <a:solidFill>
                <a:schemeClr val="tx1"/>
              </a:solidFill>
            </a:rPr>
            <a:t>in the tutorial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333B283C-2B60-4311-BCD6-C8A700457A91}" type="pres">
      <dgm:prSet presAssocID="{6054A631-F185-4B55-8FEE-F75E632E323F}" presName="linear" presStyleCnt="0">
        <dgm:presLayoutVars>
          <dgm:animLvl val="lvl"/>
          <dgm:resizeHandles val="exact"/>
        </dgm:presLayoutVars>
      </dgm:prSet>
      <dgm:spPr/>
    </dgm:pt>
    <dgm:pt modelId="{BFB6162F-7855-4B0D-88CA-923E88F16FCF}" type="pres">
      <dgm:prSet presAssocID="{39A664B9-0673-467B-90D4-1191E377A0D2}" presName="parentText" presStyleLbl="node1" presStyleIdx="0" presStyleCnt="1" custLinFactNeighborX="-2129" custLinFactNeighborY="-195">
        <dgm:presLayoutVars>
          <dgm:chMax val="0"/>
          <dgm:bulletEnabled val="1"/>
        </dgm:presLayoutVars>
      </dgm:prSet>
      <dgm:spPr>
        <a:prstGeom prst="rect">
          <a:avLst/>
        </a:prstGeom>
      </dgm:spPr>
    </dgm:pt>
  </dgm:ptLst>
  <dgm:cxnLst>
    <dgm:cxn modelId="{D390E856-A99B-4B38-8226-7616B981CE99}" type="presOf" srcId="{6054A631-F185-4B55-8FEE-F75E632E323F}" destId="{333B283C-2B60-4311-BCD6-C8A700457A91}" srcOrd="0" destOrd="0" presId="urn:microsoft.com/office/officeart/2005/8/layout/vList2"/>
    <dgm:cxn modelId="{985CF457-8E5A-4167-9DE0-E8916B01A9C1}" type="presOf" srcId="{39A664B9-0673-467B-90D4-1191E377A0D2}" destId="{BFB6162F-7855-4B0D-88CA-923E88F16FCF}" srcOrd="0" destOrd="0" presId="urn:microsoft.com/office/officeart/2005/8/layout/vList2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7222F706-DF20-4A45-9C64-DB400DD7F25F}" type="presParOf" srcId="{333B283C-2B60-4311-BCD6-C8A700457A91}" destId="{BFB6162F-7855-4B0D-88CA-923E88F16FCF}" srcOrd="0" destOrd="0" presId="urn:microsoft.com/office/officeart/2005/8/layout/vList2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If the previewed tabular data looks like this. Open the file in Excel.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Task: Describe the meaning of the columns.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</a:t>
          </a:r>
          <a:r>
            <a:rPr lang="en-GB" sz="1600" b="1" dirty="0">
              <a:solidFill>
                <a:schemeClr val="tx1"/>
              </a:solidFill>
            </a:rPr>
            <a:t>Column Description</a:t>
          </a:r>
          <a:r>
            <a:rPr lang="en-GB" sz="1600" dirty="0">
              <a:solidFill>
                <a:schemeClr val="tx1"/>
              </a:solidFill>
            </a:rPr>
            <a:t> icon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that to the Tabular file on the view.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</a:t>
          </a:r>
          <a:r>
            <a:rPr lang="en-GB" sz="1600" b="1" dirty="0">
              <a:solidFill>
                <a:schemeClr val="tx1"/>
              </a:solidFill>
            </a:rPr>
            <a:t>Quantity Kinds</a:t>
          </a:r>
          <a:r>
            <a:rPr lang="en-GB" sz="1600" dirty="0">
              <a:solidFill>
                <a:schemeClr val="tx1"/>
              </a:solidFill>
            </a:rPr>
            <a:t> and </a:t>
          </a:r>
          <a:r>
            <a:rPr lang="en-GB" sz="1600" b="1" dirty="0">
              <a:solidFill>
                <a:schemeClr val="tx1"/>
              </a:solidFill>
            </a:rPr>
            <a:t>Units</a:t>
          </a:r>
          <a:r>
            <a:rPr lang="en-GB" sz="1600" dirty="0">
              <a:solidFill>
                <a:schemeClr val="tx1"/>
              </a:solidFill>
            </a:rPr>
            <a:t>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them as shown here.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In the Quantity Kinds search box, search for temperature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Select “</a:t>
          </a:r>
          <a:r>
            <a:rPr lang="en-GB" sz="1600" b="1" dirty="0">
              <a:solidFill>
                <a:schemeClr val="tx1"/>
              </a:solidFill>
            </a:rPr>
            <a:t>Celsius temperature</a:t>
          </a:r>
          <a:r>
            <a:rPr lang="en-GB" sz="1600" dirty="0">
              <a:solidFill>
                <a:schemeClr val="tx1"/>
              </a:solidFill>
            </a:rPr>
            <a:t>” and see how Units are updated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and drop  the </a:t>
          </a:r>
          <a:r>
            <a:rPr lang="en-GB" sz="1600" b="1" dirty="0">
              <a:solidFill>
                <a:schemeClr val="tx1"/>
              </a:solidFill>
            </a:rPr>
            <a:t>Degree Celsius</a:t>
          </a:r>
          <a:r>
            <a:rPr lang="en-GB" sz="1600" b="0" dirty="0">
              <a:solidFill>
                <a:schemeClr val="tx1"/>
              </a:solidFill>
            </a:rPr>
            <a:t> to the column description field of Units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1" custLinFactNeighborY="-18473"/>
      <dgm:spPr/>
    </dgm:pt>
    <dgm:pt modelId="{4BD637B2-A23A-4AA1-BB62-B81CDBF379D3}" type="pres">
      <dgm:prSet presAssocID="{39A664B9-0673-467B-90D4-1191E377A0D2}" presName="img" presStyleLbl="fgImgPlace1" presStyleIdx="0" presStyleCnt="1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1">
        <dgm:presLayoutVars>
          <dgm:bulletEnabled val="1"/>
        </dgm:presLayoutVars>
      </dgm:prSet>
      <dgm:spPr/>
    </dgm:pt>
  </dgm:ptLst>
  <dgm:cxnLst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Metadata Profile Search and Metadata Form icons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them on the view and fill the form.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Metadata Profile Search and Metadata Form icons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them on the view and fill the form.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</a:t>
          </a:r>
          <a:r>
            <a:rPr lang="en-GB" sz="1600" b="1" dirty="0">
              <a:solidFill>
                <a:schemeClr val="tx1"/>
              </a:solidFill>
            </a:rPr>
            <a:t>RDF Storage</a:t>
          </a:r>
          <a:r>
            <a:rPr lang="en-GB" sz="1600" dirty="0">
              <a:solidFill>
                <a:schemeClr val="tx1"/>
              </a:solidFill>
            </a:rPr>
            <a:t> icon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that with the Metadata form. Save the forma and the </a:t>
          </a:r>
          <a:r>
            <a:rPr lang="en-GB" sz="1600" dirty="0" err="1">
              <a:solidFill>
                <a:schemeClr val="tx1"/>
              </a:solidFill>
            </a:rPr>
            <a:t>ste</a:t>
          </a:r>
          <a:r>
            <a:rPr lang="en-GB" sz="1600" dirty="0">
              <a:solidFill>
                <a:schemeClr val="tx1"/>
              </a:solidFill>
            </a:rPr>
            <a:t> Download button. 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Drag the </a:t>
          </a:r>
          <a:r>
            <a:rPr lang="en-GB" sz="1600" b="1" dirty="0">
              <a:solidFill>
                <a:schemeClr val="tx1"/>
              </a:solidFill>
            </a:rPr>
            <a:t>RO Crate</a:t>
          </a:r>
          <a:r>
            <a:rPr lang="en-GB" sz="1600" dirty="0">
              <a:solidFill>
                <a:schemeClr val="tx1"/>
              </a:solidFill>
            </a:rPr>
            <a:t> icon to the view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AAAFB578-1AF3-4466-8AA6-8A7B5620FD2C}">
      <dgm:prSet phldrT="[Text]" phldr="0" custT="1"/>
      <dgm:spPr>
        <a:solidFill>
          <a:schemeClr val="bg1"/>
        </a:solidFill>
        <a:ln>
          <a:noFill/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Connect that to the RDF Storage and Tabular file. Test the Download button.</a:t>
          </a:r>
          <a:endParaRPr lang="en-DE" sz="1600" dirty="0">
            <a:solidFill>
              <a:schemeClr val="tx1"/>
            </a:solidFill>
          </a:endParaRPr>
        </a:p>
      </dgm:t>
    </dgm:pt>
    <dgm:pt modelId="{00DC7B28-8EE4-4E18-AA8F-BEA216544259}" type="parTrans" cxnId="{92F332FD-92F4-4E76-979E-A67CDEF41E64}">
      <dgm:prSet/>
      <dgm:spPr/>
      <dgm:t>
        <a:bodyPr/>
        <a:lstStyle/>
        <a:p>
          <a:endParaRPr lang="en-DE"/>
        </a:p>
      </dgm:t>
    </dgm:pt>
    <dgm:pt modelId="{80248639-9DFE-4026-9557-9B63D0E229C1}" type="sibTrans" cxnId="{92F332FD-92F4-4E76-979E-A67CDEF41E64}">
      <dgm:prSet/>
      <dgm:spPr/>
      <dgm:t>
        <a:bodyPr/>
        <a:lstStyle/>
        <a:p>
          <a:endParaRPr lang="en-DE"/>
        </a:p>
      </dgm:t>
    </dgm:pt>
    <dgm:pt modelId="{91FF9CF1-BC03-4CCF-A957-DE85CE00E094}" type="pres">
      <dgm:prSet presAssocID="{6054A631-F185-4B55-8FEE-F75E632E323F}" presName="linear" presStyleCnt="0">
        <dgm:presLayoutVars>
          <dgm:dir/>
          <dgm:resizeHandles val="exact"/>
        </dgm:presLayoutVars>
      </dgm:prSet>
      <dgm:spPr/>
    </dgm:pt>
    <dgm:pt modelId="{0266D8BF-16C6-419A-B97B-CC47B929500B}" type="pres">
      <dgm:prSet presAssocID="{39A664B9-0673-467B-90D4-1191E377A0D2}" presName="comp" presStyleCnt="0"/>
      <dgm:spPr/>
    </dgm:pt>
    <dgm:pt modelId="{9703E659-467B-4875-BDF0-31CE4DFD279C}" type="pres">
      <dgm:prSet presAssocID="{39A664B9-0673-467B-90D4-1191E377A0D2}" presName="box" presStyleLbl="node1" presStyleIdx="0" presStyleCnt="2" custLinFactNeighborX="1043" custLinFactNeighborY="-39834"/>
      <dgm:spPr/>
    </dgm:pt>
    <dgm:pt modelId="{4BD637B2-A23A-4AA1-BB62-B81CDBF379D3}" type="pres">
      <dgm:prSet presAssocID="{39A664B9-0673-467B-90D4-1191E377A0D2}" presName="img" presStyleLbl="fgImgPlace1" presStyleIdx="0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</dgm:pt>
    <dgm:pt modelId="{F1BAD149-9E08-47D9-9F19-C680AC25CA4A}" type="pres">
      <dgm:prSet presAssocID="{39A664B9-0673-467B-90D4-1191E377A0D2}" presName="text" presStyleLbl="node1" presStyleIdx="0" presStyleCnt="2">
        <dgm:presLayoutVars>
          <dgm:bulletEnabled val="1"/>
        </dgm:presLayoutVars>
      </dgm:prSet>
      <dgm:spPr/>
    </dgm:pt>
    <dgm:pt modelId="{F4076CAC-F625-4DF5-A7A3-E47A9E669500}" type="pres">
      <dgm:prSet presAssocID="{E2127050-B419-4EF8-8B62-6EA88337130F}" presName="spacer" presStyleCnt="0"/>
      <dgm:spPr/>
    </dgm:pt>
    <dgm:pt modelId="{776D1CD9-72E9-4923-892A-F67FA7707165}" type="pres">
      <dgm:prSet presAssocID="{AAAFB578-1AF3-4466-8AA6-8A7B5620FD2C}" presName="comp" presStyleCnt="0"/>
      <dgm:spPr/>
    </dgm:pt>
    <dgm:pt modelId="{309FEA8A-094E-43FD-991D-29E533565BFA}" type="pres">
      <dgm:prSet presAssocID="{AAAFB578-1AF3-4466-8AA6-8A7B5620FD2C}" presName="box" presStyleLbl="node1" presStyleIdx="1" presStyleCnt="2"/>
      <dgm:spPr/>
    </dgm:pt>
    <dgm:pt modelId="{937F513F-AF25-42D5-A20B-F55696C1C6E2}" type="pres">
      <dgm:prSet presAssocID="{AAAFB578-1AF3-4466-8AA6-8A7B5620FD2C}" presName="img" presStyleLbl="fgImgPlace1" presStyleIdx="1" presStyleCnt="2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</dgm:spPr>
    </dgm:pt>
    <dgm:pt modelId="{5581D2E7-AE3D-4441-8ACF-551B8F027A18}" type="pres">
      <dgm:prSet presAssocID="{AAAFB578-1AF3-4466-8AA6-8A7B5620FD2C}" presName="text" presStyleLbl="node1" presStyleIdx="1" presStyleCnt="2">
        <dgm:presLayoutVars>
          <dgm:bulletEnabled val="1"/>
        </dgm:presLayoutVars>
      </dgm:prSet>
      <dgm:spPr/>
    </dgm:pt>
  </dgm:ptLst>
  <dgm:cxnLst>
    <dgm:cxn modelId="{5BCA1A09-2A76-4C66-BDB6-9CD414E12A19}" type="presOf" srcId="{AAAFB578-1AF3-4466-8AA6-8A7B5620FD2C}" destId="{309FEA8A-094E-43FD-991D-29E533565BFA}" srcOrd="0" destOrd="0" presId="urn:microsoft.com/office/officeart/2005/8/layout/vList4"/>
    <dgm:cxn modelId="{ED571F5B-F210-4128-B30A-7D23ECE737F9}" type="presOf" srcId="{39A664B9-0673-467B-90D4-1191E377A0D2}" destId="{9703E659-467B-4875-BDF0-31CE4DFD279C}" srcOrd="0" destOrd="0" presId="urn:microsoft.com/office/officeart/2005/8/layout/vList4"/>
    <dgm:cxn modelId="{173FB865-BD31-43FC-BE86-880FFAC3E855}" type="presOf" srcId="{39A664B9-0673-467B-90D4-1191E377A0D2}" destId="{F1BAD149-9E08-47D9-9F19-C680AC25CA4A}" srcOrd="1" destOrd="0" presId="urn:microsoft.com/office/officeart/2005/8/layout/vList4"/>
    <dgm:cxn modelId="{965A0F59-F5ED-4661-86C6-FE6F8243A955}" type="presOf" srcId="{AAAFB578-1AF3-4466-8AA6-8A7B5620FD2C}" destId="{5581D2E7-AE3D-4441-8ACF-551B8F027A18}" srcOrd="1" destOrd="0" presId="urn:microsoft.com/office/officeart/2005/8/layout/vList4"/>
    <dgm:cxn modelId="{AD377FA7-23B2-4EBF-8FD3-907D6E268ED7}" type="presOf" srcId="{6054A631-F185-4B55-8FEE-F75E632E323F}" destId="{91FF9CF1-BC03-4CCF-A957-DE85CE00E094}" srcOrd="0" destOrd="0" presId="urn:microsoft.com/office/officeart/2005/8/layout/vList4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92F332FD-92F4-4E76-979E-A67CDEF41E64}" srcId="{6054A631-F185-4B55-8FEE-F75E632E323F}" destId="{AAAFB578-1AF3-4466-8AA6-8A7B5620FD2C}" srcOrd="1" destOrd="0" parTransId="{00DC7B28-8EE4-4E18-AA8F-BEA216544259}" sibTransId="{80248639-9DFE-4026-9557-9B63D0E229C1}"/>
    <dgm:cxn modelId="{7BD1398F-CB82-4DBB-812F-9D2FE1E02C94}" type="presParOf" srcId="{91FF9CF1-BC03-4CCF-A957-DE85CE00E094}" destId="{0266D8BF-16C6-419A-B97B-CC47B929500B}" srcOrd="0" destOrd="0" presId="urn:microsoft.com/office/officeart/2005/8/layout/vList4"/>
    <dgm:cxn modelId="{A3020500-DE35-4262-A3FE-C203592DD59C}" type="presParOf" srcId="{0266D8BF-16C6-419A-B97B-CC47B929500B}" destId="{9703E659-467B-4875-BDF0-31CE4DFD279C}" srcOrd="0" destOrd="0" presId="urn:microsoft.com/office/officeart/2005/8/layout/vList4"/>
    <dgm:cxn modelId="{32C5AE7C-2E71-4322-B0EC-A66C8F5AA68C}" type="presParOf" srcId="{0266D8BF-16C6-419A-B97B-CC47B929500B}" destId="{4BD637B2-A23A-4AA1-BB62-B81CDBF379D3}" srcOrd="1" destOrd="0" presId="urn:microsoft.com/office/officeart/2005/8/layout/vList4"/>
    <dgm:cxn modelId="{78C464B2-2FBF-4E7B-A295-C56C53578150}" type="presParOf" srcId="{0266D8BF-16C6-419A-B97B-CC47B929500B}" destId="{F1BAD149-9E08-47D9-9F19-C680AC25CA4A}" srcOrd="2" destOrd="0" presId="urn:microsoft.com/office/officeart/2005/8/layout/vList4"/>
    <dgm:cxn modelId="{A1A9615D-4CEC-4084-9DE0-96BBD8FB2D59}" type="presParOf" srcId="{91FF9CF1-BC03-4CCF-A957-DE85CE00E094}" destId="{F4076CAC-F625-4DF5-A7A3-E47A9E669500}" srcOrd="1" destOrd="0" presId="urn:microsoft.com/office/officeart/2005/8/layout/vList4"/>
    <dgm:cxn modelId="{0E0BD9F7-E22B-4EC0-8D41-9485F4438D2B}" type="presParOf" srcId="{91FF9CF1-BC03-4CCF-A957-DE85CE00E094}" destId="{776D1CD9-72E9-4923-892A-F67FA7707165}" srcOrd="2" destOrd="0" presId="urn:microsoft.com/office/officeart/2005/8/layout/vList4"/>
    <dgm:cxn modelId="{FA4173B7-9C8E-4C66-8822-91422052A27E}" type="presParOf" srcId="{776D1CD9-72E9-4923-892A-F67FA7707165}" destId="{309FEA8A-094E-43FD-991D-29E533565BFA}" srcOrd="0" destOrd="0" presId="urn:microsoft.com/office/officeart/2005/8/layout/vList4"/>
    <dgm:cxn modelId="{9C1EF194-7C4F-48EF-9CAE-213D7C233876}" type="presParOf" srcId="{776D1CD9-72E9-4923-892A-F67FA7707165}" destId="{937F513F-AF25-42D5-A20B-F55696C1C6E2}" srcOrd="1" destOrd="0" presId="urn:microsoft.com/office/officeart/2005/8/layout/vList4"/>
    <dgm:cxn modelId="{819E5894-A414-44A2-A057-A53683963573}" type="presParOf" srcId="{776D1CD9-72E9-4923-892A-F67FA7707165}" destId="{5581D2E7-AE3D-4441-8ACF-551B8F027A18}" srcOrd="2" destOrd="0" presId="urn:microsoft.com/office/officeart/2005/8/layout/vList4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054A631-F185-4B55-8FEE-F75E632E32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DE"/>
        </a:p>
      </dgm:t>
    </dgm:pt>
    <dgm:pt modelId="{39A664B9-0673-467B-90D4-1191E377A0D2}">
      <dgm:prSet phldrT="[Text]" phldr="0" custT="1"/>
      <dgm:spPr>
        <a:solidFill>
          <a:schemeClr val="bg1"/>
        </a:solidFill>
        <a:ln>
          <a:solidFill>
            <a:srgbClr val="99CCFF"/>
          </a:solidFill>
        </a:ln>
      </dgm:spPr>
      <dgm:t>
        <a:bodyPr/>
        <a:lstStyle/>
        <a:p>
          <a:r>
            <a:rPr lang="en-GB" sz="1600" dirty="0">
              <a:solidFill>
                <a:schemeClr val="tx1"/>
              </a:solidFill>
            </a:rPr>
            <a:t>There is also the </a:t>
          </a:r>
          <a:r>
            <a:rPr lang="en-GB" sz="1600" dirty="0" err="1">
              <a:solidFill>
                <a:schemeClr val="tx1"/>
              </a:solidFill>
            </a:rPr>
            <a:t>Coscine</a:t>
          </a:r>
          <a:r>
            <a:rPr lang="en-GB" sz="1600" dirty="0">
              <a:solidFill>
                <a:schemeClr val="tx1"/>
              </a:solidFill>
            </a:rPr>
            <a:t> upload functionality.</a:t>
          </a:r>
          <a:endParaRPr lang="en-DE" sz="1600" dirty="0">
            <a:solidFill>
              <a:schemeClr val="tx1"/>
            </a:solidFill>
          </a:endParaRPr>
        </a:p>
      </dgm:t>
    </dgm:pt>
    <dgm:pt modelId="{0ECE7C20-9CE3-4312-A8D7-41764E2D276B}" type="parTrans" cxnId="{2A3043AC-8519-4B63-820F-A62DFAA9CD10}">
      <dgm:prSet/>
      <dgm:spPr/>
      <dgm:t>
        <a:bodyPr/>
        <a:lstStyle/>
        <a:p>
          <a:endParaRPr lang="en-DE"/>
        </a:p>
      </dgm:t>
    </dgm:pt>
    <dgm:pt modelId="{E2127050-B419-4EF8-8B62-6EA88337130F}" type="sibTrans" cxnId="{2A3043AC-8519-4B63-820F-A62DFAA9CD10}">
      <dgm:prSet/>
      <dgm:spPr/>
      <dgm:t>
        <a:bodyPr/>
        <a:lstStyle/>
        <a:p>
          <a:endParaRPr lang="en-DE"/>
        </a:p>
      </dgm:t>
    </dgm:pt>
    <dgm:pt modelId="{333B283C-2B60-4311-BCD6-C8A700457A91}" type="pres">
      <dgm:prSet presAssocID="{6054A631-F185-4B55-8FEE-F75E632E323F}" presName="linear" presStyleCnt="0">
        <dgm:presLayoutVars>
          <dgm:animLvl val="lvl"/>
          <dgm:resizeHandles val="exact"/>
        </dgm:presLayoutVars>
      </dgm:prSet>
      <dgm:spPr/>
    </dgm:pt>
    <dgm:pt modelId="{BFB6162F-7855-4B0D-88CA-923E88F16FCF}" type="pres">
      <dgm:prSet presAssocID="{39A664B9-0673-467B-90D4-1191E377A0D2}" presName="parentText" presStyleLbl="node1" presStyleIdx="0" presStyleCnt="1" custLinFactNeighborX="-2129" custLinFactNeighborY="-195">
        <dgm:presLayoutVars>
          <dgm:chMax val="0"/>
          <dgm:bulletEnabled val="1"/>
        </dgm:presLayoutVars>
      </dgm:prSet>
      <dgm:spPr>
        <a:prstGeom prst="rect">
          <a:avLst/>
        </a:prstGeom>
      </dgm:spPr>
    </dgm:pt>
  </dgm:ptLst>
  <dgm:cxnLst>
    <dgm:cxn modelId="{D390E856-A99B-4B38-8226-7616B981CE99}" type="presOf" srcId="{6054A631-F185-4B55-8FEE-F75E632E323F}" destId="{333B283C-2B60-4311-BCD6-C8A700457A91}" srcOrd="0" destOrd="0" presId="urn:microsoft.com/office/officeart/2005/8/layout/vList2"/>
    <dgm:cxn modelId="{985CF457-8E5A-4167-9DE0-E8916B01A9C1}" type="presOf" srcId="{39A664B9-0673-467B-90D4-1191E377A0D2}" destId="{BFB6162F-7855-4B0D-88CA-923E88F16FCF}" srcOrd="0" destOrd="0" presId="urn:microsoft.com/office/officeart/2005/8/layout/vList2"/>
    <dgm:cxn modelId="{2A3043AC-8519-4B63-820F-A62DFAA9CD10}" srcId="{6054A631-F185-4B55-8FEE-F75E632E323F}" destId="{39A664B9-0673-467B-90D4-1191E377A0D2}" srcOrd="0" destOrd="0" parTransId="{0ECE7C20-9CE3-4312-A8D7-41764E2D276B}" sibTransId="{E2127050-B419-4EF8-8B62-6EA88337130F}"/>
    <dgm:cxn modelId="{7222F706-DF20-4A45-9C64-DB400DD7F25F}" type="presParOf" srcId="{333B283C-2B60-4311-BCD6-C8A700457A91}" destId="{BFB6162F-7855-4B0D-88CA-923E88F16FCF}" srcOrd="0" destOrd="0" presId="urn:microsoft.com/office/officeart/2005/8/layout/vList2"/>
  </dgm:cxnLst>
  <dgm:bg>
    <a:gradFill flip="none" rotWithShape="1">
      <a:gsLst>
        <a:gs pos="0">
          <a:srgbClr val="99CCFF">
            <a:lumMod val="60000"/>
            <a:lumOff val="40000"/>
            <a:alpha val="0"/>
          </a:srgbClr>
        </a:gs>
        <a:gs pos="100000">
          <a:schemeClr val="bg1"/>
        </a:gs>
        <a:gs pos="100000">
          <a:schemeClr val="bg1"/>
        </a:gs>
      </a:gsLst>
      <a:lin ang="5400000" scaled="1"/>
      <a:tileRect/>
    </a:gradFill>
  </dgm:bg>
  <dgm:whole>
    <a:ln>
      <a:noFill/>
    </a:ln>
  </dgm:whole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Select a CSV or an Excel file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Can you see the right columns?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6162F-7855-4B0D-88CA-923E88F16FCF}">
      <dsp:nvSpPr>
        <dsp:cNvPr id="0" name=""/>
        <dsp:cNvSpPr/>
      </dsp:nvSpPr>
      <dsp:spPr>
        <a:xfrm>
          <a:off x="0" y="7241"/>
          <a:ext cx="4254040" cy="561600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99CC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Use the provided </a:t>
          </a:r>
          <a:r>
            <a:rPr lang="en-GB" sz="1600" b="1" kern="1200" dirty="0">
              <a:solidFill>
                <a:schemeClr val="tx1"/>
              </a:solidFill>
            </a:rPr>
            <a:t>sample.csv </a:t>
          </a:r>
          <a:r>
            <a:rPr lang="en-GB" sz="1600" kern="1200" dirty="0">
              <a:solidFill>
                <a:schemeClr val="tx1"/>
              </a:solidFill>
            </a:rPr>
            <a:t>in the tutorial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0" y="7241"/>
        <a:ext cx="4254040" cy="5616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If the previewed tabular data looks like this. Open the file in Excel.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Task: Describe the meaning of the columns.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</a:t>
          </a:r>
          <a:r>
            <a:rPr lang="en-GB" sz="1600" b="1" kern="1200" dirty="0">
              <a:solidFill>
                <a:schemeClr val="tx1"/>
              </a:solidFill>
            </a:rPr>
            <a:t>Column Description</a:t>
          </a:r>
          <a:r>
            <a:rPr lang="en-GB" sz="1600" kern="1200" dirty="0">
              <a:solidFill>
                <a:schemeClr val="tx1"/>
              </a:solidFill>
            </a:rPr>
            <a:t> icon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that to the Tabular file on the view.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</a:t>
          </a:r>
          <a:r>
            <a:rPr lang="en-GB" sz="1600" b="1" kern="1200" dirty="0">
              <a:solidFill>
                <a:schemeClr val="tx1"/>
              </a:solidFill>
            </a:rPr>
            <a:t>Quantity Kinds</a:t>
          </a:r>
          <a:r>
            <a:rPr lang="en-GB" sz="1600" kern="1200" dirty="0">
              <a:solidFill>
                <a:schemeClr val="tx1"/>
              </a:solidFill>
            </a:rPr>
            <a:t> and </a:t>
          </a:r>
          <a:r>
            <a:rPr lang="en-GB" sz="1600" b="1" kern="1200" dirty="0">
              <a:solidFill>
                <a:schemeClr val="tx1"/>
              </a:solidFill>
            </a:rPr>
            <a:t>Units</a:t>
          </a:r>
          <a:r>
            <a:rPr lang="en-GB" sz="1600" kern="1200" dirty="0">
              <a:solidFill>
                <a:schemeClr val="tx1"/>
              </a:solidFill>
            </a:rPr>
            <a:t>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them as shown here.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In the Quantity Kinds search box, search for temperature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Select “</a:t>
          </a:r>
          <a:r>
            <a:rPr lang="en-GB" sz="1600" b="1" kern="1200" dirty="0">
              <a:solidFill>
                <a:schemeClr val="tx1"/>
              </a:solidFill>
            </a:rPr>
            <a:t>Celsius temperature</a:t>
          </a:r>
          <a:r>
            <a:rPr lang="en-GB" sz="1600" kern="1200" dirty="0">
              <a:solidFill>
                <a:schemeClr val="tx1"/>
              </a:solidFill>
            </a:rPr>
            <a:t>” and see how Units are updated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1100334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and drop  the </a:t>
          </a:r>
          <a:r>
            <a:rPr lang="en-GB" sz="1600" b="1" kern="1200" dirty="0">
              <a:solidFill>
                <a:schemeClr val="tx1"/>
              </a:solidFill>
            </a:rPr>
            <a:t>Degree Celsius</a:t>
          </a:r>
          <a:r>
            <a:rPr lang="en-GB" sz="1600" b="0" kern="1200" dirty="0">
              <a:solidFill>
                <a:schemeClr val="tx1"/>
              </a:solidFill>
            </a:rPr>
            <a:t> to the column description field of Units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60841" y="0"/>
        <a:ext cx="3293198" cy="1100334"/>
      </dsp:txXfrm>
    </dsp:sp>
    <dsp:sp modelId="{4BD637B2-A23A-4AA1-BB62-B81CDBF379D3}">
      <dsp:nvSpPr>
        <dsp:cNvPr id="0" name=""/>
        <dsp:cNvSpPr/>
      </dsp:nvSpPr>
      <dsp:spPr>
        <a:xfrm>
          <a:off x="110033" y="110033"/>
          <a:ext cx="850808" cy="880267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Metadata Profile Search and Metadata Form icons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them on the view and fill the form.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Metadata Profile Search and Metadata Form icons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them on the view and fill the form.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</a:t>
          </a:r>
          <a:r>
            <a:rPr lang="en-GB" sz="1600" b="1" kern="1200" dirty="0">
              <a:solidFill>
                <a:schemeClr val="tx1"/>
              </a:solidFill>
            </a:rPr>
            <a:t>RDF Storage</a:t>
          </a:r>
          <a:r>
            <a:rPr lang="en-GB" sz="1600" kern="1200" dirty="0">
              <a:solidFill>
                <a:schemeClr val="tx1"/>
              </a:solidFill>
            </a:rPr>
            <a:t> icon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that with the Metadata form. Save the forma and the </a:t>
          </a:r>
          <a:r>
            <a:rPr lang="en-GB" sz="1600" kern="1200" dirty="0" err="1">
              <a:solidFill>
                <a:schemeClr val="tx1"/>
              </a:solidFill>
            </a:rPr>
            <a:t>ste</a:t>
          </a:r>
          <a:r>
            <a:rPr lang="en-GB" sz="1600" kern="1200" dirty="0">
              <a:solidFill>
                <a:schemeClr val="tx1"/>
              </a:solidFill>
            </a:rPr>
            <a:t> Download button. 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03E659-467B-4875-BDF0-31CE4DFD279C}">
      <dsp:nvSpPr>
        <dsp:cNvPr id="0" name=""/>
        <dsp:cNvSpPr/>
      </dsp:nvSpPr>
      <dsp:spPr>
        <a:xfrm>
          <a:off x="0" y="0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Drag the </a:t>
          </a:r>
          <a:r>
            <a:rPr lang="en-GB" sz="1600" b="1" kern="1200" dirty="0">
              <a:solidFill>
                <a:schemeClr val="tx1"/>
              </a:solidFill>
            </a:rPr>
            <a:t>RO Crate</a:t>
          </a:r>
          <a:r>
            <a:rPr lang="en-GB" sz="1600" kern="1200" dirty="0">
              <a:solidFill>
                <a:schemeClr val="tx1"/>
              </a:solidFill>
            </a:rPr>
            <a:t> icon to the view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0"/>
        <a:ext cx="3320754" cy="824773"/>
      </dsp:txXfrm>
    </dsp:sp>
    <dsp:sp modelId="{4BD637B2-A23A-4AA1-BB62-B81CDBF379D3}">
      <dsp:nvSpPr>
        <dsp:cNvPr id="0" name=""/>
        <dsp:cNvSpPr/>
      </dsp:nvSpPr>
      <dsp:spPr>
        <a:xfrm>
          <a:off x="82477" y="82477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9FEA8A-094E-43FD-991D-29E533565BFA}">
      <dsp:nvSpPr>
        <dsp:cNvPr id="0" name=""/>
        <dsp:cNvSpPr/>
      </dsp:nvSpPr>
      <dsp:spPr>
        <a:xfrm>
          <a:off x="0" y="907251"/>
          <a:ext cx="4254040" cy="824773"/>
        </a:xfrm>
        <a:prstGeom prst="roundRect">
          <a:avLst>
            <a:gd name="adj" fmla="val 10000"/>
          </a:avLst>
        </a:prstGeom>
        <a:solidFill>
          <a:schemeClr val="bg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Connect that to the RDF Storage and Tabular file. Test the Download button.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933285" y="907251"/>
        <a:ext cx="3320754" cy="824773"/>
      </dsp:txXfrm>
    </dsp:sp>
    <dsp:sp modelId="{937F513F-AF25-42D5-A20B-F55696C1C6E2}">
      <dsp:nvSpPr>
        <dsp:cNvPr id="0" name=""/>
        <dsp:cNvSpPr/>
      </dsp:nvSpPr>
      <dsp:spPr>
        <a:xfrm>
          <a:off x="82477" y="989728"/>
          <a:ext cx="850808" cy="659819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 t="-1000" b="-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B6162F-7855-4B0D-88CA-923E88F16FCF}">
      <dsp:nvSpPr>
        <dsp:cNvPr id="0" name=""/>
        <dsp:cNvSpPr/>
      </dsp:nvSpPr>
      <dsp:spPr>
        <a:xfrm>
          <a:off x="0" y="7241"/>
          <a:ext cx="4254040" cy="561600"/>
        </a:xfrm>
        <a:prstGeom prst="rect">
          <a:avLst/>
        </a:prstGeom>
        <a:solidFill>
          <a:schemeClr val="bg1"/>
        </a:solidFill>
        <a:ln w="12700" cap="flat" cmpd="sng" algn="ctr">
          <a:solidFill>
            <a:srgbClr val="99CCFF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chemeClr val="tx1"/>
              </a:solidFill>
            </a:rPr>
            <a:t>There is also the </a:t>
          </a:r>
          <a:r>
            <a:rPr lang="en-GB" sz="1600" kern="1200" dirty="0" err="1">
              <a:solidFill>
                <a:schemeClr val="tx1"/>
              </a:solidFill>
            </a:rPr>
            <a:t>Coscine</a:t>
          </a:r>
          <a:r>
            <a:rPr lang="en-GB" sz="1600" kern="1200" dirty="0">
              <a:solidFill>
                <a:schemeClr val="tx1"/>
              </a:solidFill>
            </a:rPr>
            <a:t> upload functionality.</a:t>
          </a:r>
          <a:endParaRPr lang="en-DE" sz="1600" kern="1200" dirty="0">
            <a:solidFill>
              <a:schemeClr val="tx1"/>
            </a:solidFill>
          </a:endParaRPr>
        </a:p>
      </dsp:txBody>
      <dsp:txXfrm>
        <a:off x="0" y="7241"/>
        <a:ext cx="4254040" cy="561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A540E2B-BD4B-4AE5-BCFC-477C092EA6F7}" type="datetimeFigureOut">
              <a:rPr lang="de-DE" altLang="de-DE"/>
              <a:pPr>
                <a:defRPr/>
              </a:pPr>
              <a:t>20.08.2026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C9DE6F6F-71E1-477C-B01E-5DB860B1F64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2484C28B-74A4-417C-88D1-EC7F87EB0707}" type="datetimeFigureOut">
              <a:rPr lang="de-DE" altLang="de-DE"/>
              <a:pPr>
                <a:defRPr/>
              </a:pPr>
              <a:t>20.08.2026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4D57248-45F9-407E-BD5D-2C3A9E3AA9CD}" type="slidenum">
              <a:rPr lang="de-DE" altLang="de-DE"/>
              <a:pPr/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135638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B045E-8936-CA66-1716-2448B763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57945-EA7E-8729-B786-D6C80A442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4FA61-B058-6C5C-7D3B-F9707596A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10050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BFFF-86ED-9198-101D-5EF6E8BE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8EF80-F424-A575-2EFE-EDFE1BC47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3F95F-FD5D-09A6-5885-1D3DDDF22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110958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ACAE-9351-AB35-59BA-FC9800DDC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A63617-12C6-68CE-6E30-3C6EEA898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DFF8E-AD40-9A5F-18F6-09B0F3B692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2824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09600" y="2751142"/>
            <a:ext cx="5359400" cy="33654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609600" y="3087688"/>
            <a:ext cx="5359400" cy="154887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27663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291" y="5582219"/>
            <a:ext cx="1763486" cy="46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09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999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609601" y="2152650"/>
            <a:ext cx="3487738" cy="2571750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  <a:defRPr sz="1400" b="1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31800" indent="-215900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  <a:defRPr sz="1200">
                <a:latin typeface="+mn-lt"/>
                <a:ea typeface="Source Serif Pro" panose="02040603050405020204" pitchFamily="18" charset="0"/>
              </a:defRPr>
            </a:lvl2pPr>
            <a:lvl3pPr marL="647700" indent="-215900">
              <a:spcBef>
                <a:spcPts val="0"/>
              </a:spcBef>
              <a:spcAft>
                <a:spcPts val="600"/>
              </a:spcAft>
              <a:buClrTx/>
              <a:buFont typeface="Source Sans Pro" panose="020B0503030403020204" pitchFamily="34" charset="0"/>
              <a:buChar char="–"/>
              <a:defRPr sz="1000">
                <a:latin typeface="+mn-lt"/>
                <a:ea typeface="Source Serif Pro" panose="02040603050405020204" pitchFamily="18" charset="0"/>
              </a:defRPr>
            </a:lvl3pPr>
            <a:lvl4pPr marL="863600" indent="-215900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  <a:defRPr sz="1000">
                <a:latin typeface="+mn-lt"/>
                <a:ea typeface="Source Serif Pro" panose="02040603050405020204" pitchFamily="18" charset="0"/>
              </a:defRPr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658800"/>
            <a:ext cx="5613400" cy="62407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 spc="-100" normalizeH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4422775" cy="457200"/>
          </a:xfrm>
          <a:prstGeom prst="rect">
            <a:avLst/>
          </a:prstGeom>
          <a:noFill/>
        </p:spPr>
        <p:txBody>
          <a:bodyPr lIns="0" tIns="0" rIns="0" bIns="0"/>
          <a:lstStyle>
            <a:lvl1pPr>
              <a:defRPr lang="en-US" sz="1400" b="0" i="0" spc="-100" baseline="0" dirty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6223000" y="2152650"/>
            <a:ext cx="5359400" cy="25717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lang="en-US" sz="1200" dirty="0">
                <a:latin typeface="+mn-lt"/>
                <a:ea typeface="Source Serif Pro" panose="02040603050405020204" pitchFamily="18" charset="0"/>
              </a:defRPr>
            </a:lvl2pPr>
            <a:lvl3pPr>
              <a:defRPr lang="en-US" sz="1000" dirty="0">
                <a:latin typeface="+mn-lt"/>
                <a:ea typeface="Source Serif Pro" panose="02040603050405020204" pitchFamily="18" charset="0"/>
              </a:defRPr>
            </a:lvl3pPr>
            <a:lvl4pPr>
              <a:defRPr lang="en-US" sz="1000" dirty="0">
                <a:latin typeface="+mn-lt"/>
                <a:ea typeface="Source Serif Pro" panose="02040603050405020204" pitchFamily="18" charset="0"/>
              </a:defRPr>
            </a:lvl4pPr>
          </a:lstStyle>
          <a:p>
            <a:pPr lvl="0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Edit Master text styles</a:t>
            </a:r>
          </a:p>
          <a:p>
            <a:pPr lvl="1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Second level</a:t>
            </a:r>
          </a:p>
          <a:p>
            <a:pPr lvl="2">
              <a:spcBef>
                <a:spcPts val="0"/>
              </a:spcBef>
              <a:spcAft>
                <a:spcPts val="600"/>
              </a:spcAft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Third level</a:t>
            </a:r>
          </a:p>
          <a:p>
            <a:pPr lvl="3">
              <a:spcAft>
                <a:spcPts val="600"/>
              </a:spcAft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Fourth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964738" y="4957763"/>
            <a:ext cx="1617662" cy="202276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9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lvl="0"/>
            <a:r>
              <a:rPr lang="de-DE" dirty="0"/>
              <a:t>Image Source:</a:t>
            </a:r>
            <a:endParaRPr lang="en-US" dirty="0"/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FFB484E3-3254-4BD2-B5F3-4845D637B0C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291" y="5582219"/>
            <a:ext cx="1763486" cy="46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31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_image_no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2152650"/>
            <a:ext cx="3487738" cy="2571750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 lang="en-US" sz="1200" dirty="0">
                <a:latin typeface="Source Serif Pro" panose="02040603050405020204" pitchFamily="18" charset="0"/>
                <a:ea typeface="Source Serif Pro" panose="02040603050405020204" pitchFamily="18" charset="0"/>
              </a:defRPr>
            </a:lvl2pPr>
            <a:lvl3pPr>
              <a:defRPr lang="en-US" sz="1000" dirty="0">
                <a:latin typeface="Source Serif Pro" panose="02040603050405020204" pitchFamily="18" charset="0"/>
                <a:ea typeface="Source Serif Pro" panose="02040603050405020204" pitchFamily="18" charset="0"/>
              </a:defRPr>
            </a:lvl3pPr>
          </a:lstStyle>
          <a:p>
            <a:pPr lvl="0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Edit Master text styles</a:t>
            </a:r>
          </a:p>
          <a:p>
            <a:pPr lvl="1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Second level</a:t>
            </a:r>
          </a:p>
          <a:p>
            <a:pPr lvl="2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Third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658800"/>
            <a:ext cx="5613400" cy="62407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 spc="-100" normalizeH="0" baseline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4422775" cy="457200"/>
          </a:xfrm>
          <a:prstGeom prst="rect">
            <a:avLst/>
          </a:prstGeom>
          <a:noFill/>
        </p:spPr>
        <p:txBody>
          <a:bodyPr lIns="0" tIns="0" rIns="0" bIns="0"/>
          <a:lstStyle>
            <a:lvl1pPr>
              <a:defRPr lang="en-US" sz="1400" b="0" i="0" spc="-100" baseline="0" dirty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5286375" y="2152650"/>
            <a:ext cx="6296025" cy="34861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Aft>
                <a:spcPts val="1200"/>
              </a:spcAft>
              <a:buNone/>
              <a:defRPr lang="en-US" sz="1400" b="1" dirty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540000" indent="-171450">
              <a:lnSpc>
                <a:spcPct val="100000"/>
              </a:lnSpc>
              <a:spcAft>
                <a:spcPts val="1200"/>
              </a:spcAft>
              <a:buFont typeface="Source Sans Pro" panose="020B0503030403020204" pitchFamily="34" charset="0"/>
              <a:buChar char="–"/>
              <a:defRPr lang="en-US" sz="1200" dirty="0">
                <a:latin typeface="Source Serif Pro" panose="02040603050405020204" pitchFamily="18" charset="0"/>
                <a:ea typeface="Source Serif Pro" panose="02040603050405020204" pitchFamily="18" charset="0"/>
              </a:defRPr>
            </a:lvl2pPr>
            <a:lvl3pPr marL="0" indent="0">
              <a:lnSpc>
                <a:spcPct val="100000"/>
              </a:lnSpc>
              <a:spcAft>
                <a:spcPts val="1200"/>
              </a:spcAft>
              <a:buNone/>
              <a:defRPr lang="en-US" sz="1000" dirty="0">
                <a:latin typeface="Source Serif Pro" panose="02040603050405020204" pitchFamily="18" charset="0"/>
                <a:ea typeface="Source Serif Pro" panose="02040603050405020204" pitchFamily="18" charset="0"/>
              </a:defRPr>
            </a:lvl3pPr>
            <a:lvl4pPr marL="0" indent="0">
              <a:lnSpc>
                <a:spcPct val="100000"/>
              </a:lnSpc>
              <a:spcAft>
                <a:spcPts val="1200"/>
              </a:spcAft>
              <a:buNone/>
              <a:defRPr lang="en-US" dirty="0"/>
            </a:lvl4pPr>
          </a:lstStyle>
          <a:p>
            <a:pPr lvl="0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Edit Master text styles</a:t>
            </a:r>
          </a:p>
          <a:p>
            <a:pPr lvl="1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Second level</a:t>
            </a:r>
          </a:p>
          <a:p>
            <a:pPr lvl="2">
              <a:buClrTx/>
              <a:buFont typeface="Source Sans Pro" panose="020B0503030403020204" pitchFamily="34" charset="0"/>
              <a:buChar char="–"/>
            </a:pPr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9964738" y="5639406"/>
            <a:ext cx="1617662" cy="202276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lang="en-US" sz="1050" spc="-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</a:lstStyle>
          <a:p>
            <a:pPr lvl="0"/>
            <a:r>
              <a:rPr lang="de-DE" dirty="0"/>
              <a:t>Image Source: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469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134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953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08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7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9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19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12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2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164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7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10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236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1722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subtitle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4789512" cy="4133388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4778550" cy="35295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5391150" y="1152000"/>
            <a:ext cx="6477000" cy="4666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8073483" y="5818188"/>
            <a:ext cx="3794667" cy="20347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Source: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10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952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3699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2018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en-US" noProof="0"/>
              <a:t>Click icon to add chart</a:t>
            </a:r>
            <a:endParaRPr lang="de-DE" noProof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0480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1" y="6040438"/>
            <a:ext cx="3094037" cy="81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616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7314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8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10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0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29" imgH="530" progId="TCLayout.ActiveDocument.1">
                  <p:embed/>
                </p:oleObj>
              </mc:Choice>
              <mc:Fallback>
                <p:oleObj name="think-cell Slide" r:id="rId11" imgW="529" imgH="53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5"/>
          <p:cNvSpPr txBox="1">
            <a:spLocks/>
          </p:cNvSpPr>
          <p:nvPr/>
        </p:nvSpPr>
        <p:spPr>
          <a:xfrm>
            <a:off x="381001" y="6239192"/>
            <a:ext cx="3487738" cy="327054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fontAlgn="t"/>
            <a:r>
              <a:rPr lang="en-US" sz="1050" dirty="0">
                <a:solidFill>
                  <a:srgbClr val="000000"/>
                </a:solidFill>
                <a:latin typeface="Calibri" panose="020F0502020204030204" pitchFamily="34" charset="0"/>
              </a:rPr>
              <a:t>Dr.-Ing.  Jyrki Oraskari</a:t>
            </a:r>
          </a:p>
        </p:txBody>
      </p: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rPr>
              <a:t>Fußzeile anpassen:</a:t>
            </a:r>
            <a:endParaRPr kumimoji="0" lang="de-DE" altLang="de-DE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34" charset="-128"/>
              </a:rPr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kumimoji="0" lang="de-DE" altLang="de-DE" sz="1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5185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1" r:id="rId7"/>
    <p:sldLayoutId id="2147483914" r:id="rId8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F26B43"/>
          </p15:clr>
        </p15:guide>
        <p15:guide id="2" pos="7680">
          <p15:clr>
            <a:srgbClr val="F26B43"/>
          </p15:clr>
        </p15:guide>
        <p15:guide id="3" pos="384">
          <p15:clr>
            <a:srgbClr val="F26B43"/>
          </p15:clr>
        </p15:guide>
        <p15:guide id="4" pos="813">
          <p15:clr>
            <a:srgbClr val="F26B43"/>
          </p15:clr>
        </p15:guide>
        <p15:guide id="5" pos="973">
          <p15:clr>
            <a:srgbClr val="F26B43"/>
          </p15:clr>
        </p15:guide>
        <p15:guide id="6" pos="1402">
          <p15:clr>
            <a:srgbClr val="F26B43"/>
          </p15:clr>
        </p15:guide>
        <p15:guide id="7" pos="1562">
          <p15:clr>
            <a:srgbClr val="F26B43"/>
          </p15:clr>
        </p15:guide>
        <p15:guide id="8" pos="1992">
          <p15:clr>
            <a:srgbClr val="F26B43"/>
          </p15:clr>
        </p15:guide>
        <p15:guide id="9" pos="2152">
          <p15:clr>
            <a:srgbClr val="F26B43"/>
          </p15:clr>
        </p15:guide>
        <p15:guide id="10" pos="2581">
          <p15:clr>
            <a:srgbClr val="F26B43"/>
          </p15:clr>
        </p15:guide>
        <p15:guide id="11" pos="2741">
          <p15:clr>
            <a:srgbClr val="F26B43"/>
          </p15:clr>
        </p15:guide>
        <p15:guide id="12" pos="3170">
          <p15:clr>
            <a:srgbClr val="F26B43"/>
          </p15:clr>
        </p15:guide>
        <p15:guide id="13" pos="3330">
          <p15:clr>
            <a:srgbClr val="F26B43"/>
          </p15:clr>
        </p15:guide>
        <p15:guide id="14" pos="3760">
          <p15:clr>
            <a:srgbClr val="F26B43"/>
          </p15:clr>
        </p15:guide>
        <p15:guide id="15" pos="3920">
          <p15:clr>
            <a:srgbClr val="F26B43"/>
          </p15:clr>
        </p15:guide>
        <p15:guide id="16" pos="4349">
          <p15:clr>
            <a:srgbClr val="F26B43"/>
          </p15:clr>
        </p15:guide>
        <p15:guide id="17" pos="4509">
          <p15:clr>
            <a:srgbClr val="F26B43"/>
          </p15:clr>
        </p15:guide>
        <p15:guide id="18" pos="4938">
          <p15:clr>
            <a:srgbClr val="F26B43"/>
          </p15:clr>
        </p15:guide>
        <p15:guide id="19" pos="5098">
          <p15:clr>
            <a:srgbClr val="F26B43"/>
          </p15:clr>
        </p15:guide>
        <p15:guide id="20" pos="5528">
          <p15:clr>
            <a:srgbClr val="F26B43"/>
          </p15:clr>
        </p15:guide>
        <p15:guide id="21" pos="5688">
          <p15:clr>
            <a:srgbClr val="F26B43"/>
          </p15:clr>
        </p15:guide>
        <p15:guide id="22" pos="6117">
          <p15:clr>
            <a:srgbClr val="F26B43"/>
          </p15:clr>
        </p15:guide>
        <p15:guide id="23" pos="6277">
          <p15:clr>
            <a:srgbClr val="F26B43"/>
          </p15:clr>
        </p15:guide>
        <p15:guide id="24" pos="6706">
          <p15:clr>
            <a:srgbClr val="F26B43"/>
          </p15:clr>
        </p15:guide>
        <p15:guide id="25" pos="6866">
          <p15:clr>
            <a:srgbClr val="F26B43"/>
          </p15:clr>
        </p15:guide>
        <p15:guide id="26" pos="7296">
          <p15:clr>
            <a:srgbClr val="F26B43"/>
          </p15:clr>
        </p15:guide>
        <p15:guide id="27" orient="horz">
          <p15:clr>
            <a:srgbClr val="F26B43"/>
          </p15:clr>
        </p15:guide>
        <p15:guide id="28" orient="horz" pos="4320">
          <p15:clr>
            <a:srgbClr val="F26B43"/>
          </p15:clr>
        </p15:guide>
        <p15:guide id="29" orient="horz" pos="768">
          <p15:clr>
            <a:srgbClr val="F26B43"/>
          </p15:clr>
        </p15:guide>
        <p15:guide id="30" orient="horz" pos="1196">
          <p15:clr>
            <a:srgbClr val="F26B43"/>
          </p15:clr>
        </p15:guide>
        <p15:guide id="31" orient="horz" pos="1356">
          <p15:clr>
            <a:srgbClr val="F26B43"/>
          </p15:clr>
        </p15:guide>
        <p15:guide id="32" orient="horz" pos="1785">
          <p15:clr>
            <a:srgbClr val="F26B43"/>
          </p15:clr>
        </p15:guide>
        <p15:guide id="33" orient="horz" pos="1945">
          <p15:clr>
            <a:srgbClr val="F26B43"/>
          </p15:clr>
        </p15:guide>
        <p15:guide id="34" orient="horz" pos="2374">
          <p15:clr>
            <a:srgbClr val="F26B43"/>
          </p15:clr>
        </p15:guide>
        <p15:guide id="35" orient="horz" pos="2534">
          <p15:clr>
            <a:srgbClr val="F26B43"/>
          </p15:clr>
        </p15:guide>
        <p15:guide id="36" orient="horz" pos="2976">
          <p15:clr>
            <a:srgbClr val="F26B43"/>
          </p15:clr>
        </p15:guide>
        <p15:guide id="37" orient="horz" pos="3123">
          <p15:clr>
            <a:srgbClr val="F26B43"/>
          </p15:clr>
        </p15:guide>
        <p15:guide id="38" orient="horz" pos="355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315648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529" imgH="530" progId="TCLayout.ActiveDocument.1">
                  <p:embed/>
                </p:oleObj>
              </mc:Choice>
              <mc:Fallback>
                <p:oleObj name="think-cell Slide" r:id="rId17" imgW="529" imgH="53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3"/>
            <a:ext cx="7002462" cy="630237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900" baseline="0" dirty="0">
              <a:solidFill>
                <a:schemeClr val="tx2"/>
              </a:solidFill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2" y="6227763"/>
            <a:ext cx="1407477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8E50C4-74AF-4B0D-B8D5-22CBFF3E1532}" type="slidenum">
              <a:rPr lang="de-DE" altLang="de-DE" sz="900" smtClean="0">
                <a:solidFill>
                  <a:schemeClr val="tx2"/>
                </a:solidFill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de-DE" altLang="de-DE" sz="900" dirty="0">
                <a:solidFill>
                  <a:schemeClr val="tx2"/>
                </a:solidFill>
              </a:rPr>
              <a:t> </a:t>
            </a:r>
            <a:r>
              <a:rPr lang="en-US" sz="900" dirty="0">
                <a:solidFill>
                  <a:srgbClr val="000000"/>
                </a:solidFill>
                <a:latin typeface="Calibri" panose="020F0502020204030204" pitchFamily="34" charset="0"/>
              </a:rPr>
              <a:t>Dr.-Ing.  Jyrki Oraskari</a:t>
            </a:r>
          </a:p>
          <a:p>
            <a:pPr eaLnBrk="1" hangingPunct="1"/>
            <a:endParaRPr lang="de-DE" altLang="de-DE" sz="900" dirty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1425" y="6071709"/>
            <a:ext cx="2982913" cy="7862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71" r:id="rId7"/>
    <p:sldLayoutId id="2147483858" r:id="rId8"/>
    <p:sldLayoutId id="2147483865" r:id="rId9"/>
    <p:sldLayoutId id="2147483866" r:id="rId10"/>
    <p:sldLayoutId id="2147483859" r:id="rId11"/>
    <p:sldLayoutId id="2147483867" r:id="rId12"/>
    <p:sldLayoutId id="2147483872" r:id="rId13"/>
    <p:sldLayoutId id="2147483913" r:id="rId14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13" Type="http://schemas.openxmlformats.org/officeDocument/2006/relationships/image" Target="../media/image16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9.jpeg"/><Relationship Id="rId11" Type="http://schemas.openxmlformats.org/officeDocument/2006/relationships/image" Target="../media/image14.pn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jpeg"/><Relationship Id="rId4" Type="http://schemas.openxmlformats.org/officeDocument/2006/relationships/image" Target="../media/image1.emf"/><Relationship Id="rId9" Type="http://schemas.openxmlformats.org/officeDocument/2006/relationships/image" Target="../media/image12.jpeg"/><Relationship Id="rId14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33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13" Type="http://schemas.microsoft.com/office/2007/relationships/diagramDrawing" Target="../diagrams/drawing12.xml"/><Relationship Id="rId3" Type="http://schemas.openxmlformats.org/officeDocument/2006/relationships/image" Target="../media/image34.png"/><Relationship Id="rId7" Type="http://schemas.openxmlformats.org/officeDocument/2006/relationships/diagramColors" Target="../diagrams/colors11.xml"/><Relationship Id="rId12" Type="http://schemas.openxmlformats.org/officeDocument/2006/relationships/diagramColors" Target="../diagrams/colors1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QuickStyle" Target="../diagrams/quickStyle11.xml"/><Relationship Id="rId11" Type="http://schemas.openxmlformats.org/officeDocument/2006/relationships/diagramQuickStyle" Target="../diagrams/quickStyle12.xml"/><Relationship Id="rId5" Type="http://schemas.openxmlformats.org/officeDocument/2006/relationships/diagramLayout" Target="../diagrams/layout11.xml"/><Relationship Id="rId10" Type="http://schemas.openxmlformats.org/officeDocument/2006/relationships/diagramLayout" Target="../diagrams/layout12.xml"/><Relationship Id="rId4" Type="http://schemas.openxmlformats.org/officeDocument/2006/relationships/diagramData" Target="../diagrams/data11.xml"/><Relationship Id="rId9" Type="http://schemas.openxmlformats.org/officeDocument/2006/relationships/diagramData" Target="../diagrams/data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29" imgH="530" progId="TCLayout.ActiveDocument.1">
                  <p:embed/>
                </p:oleObj>
              </mc:Choice>
              <mc:Fallback>
                <p:oleObj name="think-cell Slide" r:id="rId3" imgW="529" imgH="53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6" name="Titel 1"/>
          <p:cNvSpPr>
            <a:spLocks noGrp="1"/>
          </p:cNvSpPr>
          <p:nvPr>
            <p:ph type="ctr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de-DE" altLang="de-DE" dirty="0">
                <a:ea typeface="ＭＳ Ｐゴシック" panose="020B0600070205080204" pitchFamily="34" charset="-128"/>
              </a:rPr>
              <a:t>Research Data Management</a:t>
            </a:r>
          </a:p>
        </p:txBody>
      </p:sp>
      <p:sp>
        <p:nvSpPr>
          <p:cNvPr id="11267" name="Untertitel 2"/>
          <p:cNvSpPr>
            <a:spLocks noGrp="1"/>
          </p:cNvSpPr>
          <p:nvPr>
            <p:ph type="subTitle" idx="1"/>
          </p:nvPr>
        </p:nvSpPr>
        <p:spPr bwMode="auto">
          <a:xfrm>
            <a:off x="609600" y="3087687"/>
            <a:ext cx="3491387" cy="1642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fontAlgn="t"/>
            <a:endParaRPr lang="en-US" b="1" dirty="0">
              <a:solidFill>
                <a:srgbClr val="000000"/>
              </a:solidFill>
              <a:latin typeface="+mn-lt"/>
            </a:endParaRPr>
          </a:p>
          <a:p>
            <a:pPr fontAlgn="t"/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t"/>
            <a:r>
              <a:rPr lang="de-DE" sz="1600" dirty="0"/>
              <a:t>TabularRDM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t"/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t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Dr.-Ing.  Jyrki Oraskari</a:t>
            </a:r>
          </a:p>
          <a:p>
            <a:pPr fontAlgn="t"/>
            <a:endParaRPr lang="en-US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t"/>
            <a:endParaRPr lang="de-DE" altLang="de-DE" dirty="0">
              <a:ea typeface="ＭＳ Ｐゴシック" panose="020B0600070205080204" pitchFamily="34" charset="-128"/>
            </a:endParaRPr>
          </a:p>
          <a:p>
            <a:pPr eaLnBrk="1" hangingPunct="1"/>
            <a:endParaRPr lang="de-DE" altLang="de-DE" dirty="0">
              <a:ea typeface="ＭＳ Ｐゴシック" panose="020B0600070205080204" pitchFamily="34" charset="-128"/>
            </a:endParaRP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A06626C0-695F-474A-8986-AA8E7636AFA2}"/>
              </a:ext>
            </a:extLst>
          </p:cNvPr>
          <p:cNvGrpSpPr/>
          <p:nvPr/>
        </p:nvGrpSpPr>
        <p:grpSpPr>
          <a:xfrm>
            <a:off x="4100987" y="3440003"/>
            <a:ext cx="8091013" cy="1757534"/>
            <a:chOff x="609601" y="2801324"/>
            <a:chExt cx="11582397" cy="2503327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BD1EDFAF-DEF3-4A49-8499-184DBD4D65AB}"/>
                </a:ext>
              </a:extLst>
            </p:cNvPr>
            <p:cNvGrpSpPr/>
            <p:nvPr/>
          </p:nvGrpSpPr>
          <p:grpSpPr>
            <a:xfrm>
              <a:off x="609601" y="2801324"/>
              <a:ext cx="11582397" cy="2503327"/>
              <a:chOff x="609601" y="2801324"/>
              <a:chExt cx="11582397" cy="2503327"/>
            </a:xfrm>
          </p:grpSpPr>
          <p:grpSp>
            <p:nvGrpSpPr>
              <p:cNvPr id="26" name="Group 2">
                <a:extLst>
                  <a:ext uri="{FF2B5EF4-FFF2-40B4-BE49-F238E27FC236}">
                    <a16:creationId xmlns:a16="http://schemas.microsoft.com/office/drawing/2014/main" id="{1A8B4FDC-9CCA-444E-A2BF-BAC93D35706C}"/>
                  </a:ext>
                </a:extLst>
              </p:cNvPr>
              <p:cNvGrpSpPr/>
              <p:nvPr/>
            </p:nvGrpSpPr>
            <p:grpSpPr>
              <a:xfrm>
                <a:off x="609601" y="2819179"/>
                <a:ext cx="11582397" cy="2485472"/>
                <a:chOff x="-8621034" y="1148474"/>
                <a:chExt cx="20806617" cy="4355420"/>
              </a:xfrm>
            </p:grpSpPr>
            <p:pic>
              <p:nvPicPr>
                <p:cNvPr id="30" name="Picture 4">
                  <a:extLst>
                    <a:ext uri="{FF2B5EF4-FFF2-40B4-BE49-F238E27FC236}">
                      <a16:creationId xmlns:a16="http://schemas.microsoft.com/office/drawing/2014/main" id="{E07BFABD-40EF-45BA-8F17-DBC247C2425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2685407" y="1154051"/>
                  <a:ext cx="2704256" cy="4280867"/>
                </a:xfrm>
                <a:prstGeom prst="rect">
                  <a:avLst/>
                </a:prstGeom>
              </p:spPr>
            </p:pic>
            <p:pic>
              <p:nvPicPr>
                <p:cNvPr id="31" name="Picture 5">
                  <a:extLst>
                    <a:ext uri="{FF2B5EF4-FFF2-40B4-BE49-F238E27FC236}">
                      <a16:creationId xmlns:a16="http://schemas.microsoft.com/office/drawing/2014/main" id="{3094877A-2FAD-489F-BEB4-0DD5C72B6BD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74957" y="1148474"/>
                  <a:ext cx="2496202" cy="186920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2" name="Picture 6">
                  <a:extLst>
                    <a:ext uri="{FF2B5EF4-FFF2-40B4-BE49-F238E27FC236}">
                      <a16:creationId xmlns:a16="http://schemas.microsoft.com/office/drawing/2014/main" id="{060203A5-0FC6-4F30-B176-A014DE091DA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74957" y="2904559"/>
                  <a:ext cx="2496202" cy="25196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3" name="Picture 4">
                  <a:extLst>
                    <a:ext uri="{FF2B5EF4-FFF2-40B4-BE49-F238E27FC236}">
                      <a16:creationId xmlns:a16="http://schemas.microsoft.com/office/drawing/2014/main" id="{29299E05-5390-41D5-89AC-F7089782A5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8607263" y="1164718"/>
                  <a:ext cx="2290735" cy="28031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4" name="Picture 5">
                  <a:extLst>
                    <a:ext uri="{FF2B5EF4-FFF2-40B4-BE49-F238E27FC236}">
                      <a16:creationId xmlns:a16="http://schemas.microsoft.com/office/drawing/2014/main" id="{6D1A65C7-1272-4493-AFD5-F94ABC2FC6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-8621034" y="4051842"/>
                  <a:ext cx="2271440" cy="13783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pic>
              <p:nvPicPr>
                <p:cNvPr id="35" name="Picture Placeholder 11">
                  <a:extLst>
                    <a:ext uri="{FF2B5EF4-FFF2-40B4-BE49-F238E27FC236}">
                      <a16:creationId xmlns:a16="http://schemas.microsoft.com/office/drawing/2014/main" id="{A29D7896-AE5B-46F5-808B-0CA47DA18C47}"/>
                    </a:ext>
                  </a:extLst>
                </p:cNvPr>
                <p:cNvPicPr/>
                <p:nvPr/>
              </p:nvPicPr>
              <p:blipFill rotWithShape="1">
                <a:blip r:embed="rId10"/>
                <a:srcRect l="44437" t="10420" r="6975" b="7869"/>
                <a:stretch/>
              </p:blipFill>
              <p:spPr>
                <a:xfrm>
                  <a:off x="8430056" y="1164718"/>
                  <a:ext cx="3755527" cy="4339176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pic>
            <p:nvPicPr>
              <p:cNvPr id="27" name="Picture 3">
                <a:extLst>
                  <a:ext uri="{FF2B5EF4-FFF2-40B4-BE49-F238E27FC236}">
                    <a16:creationId xmlns:a16="http://schemas.microsoft.com/office/drawing/2014/main" id="{A8D43F23-8541-4C37-82B3-A20A46953B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354128" y="4008216"/>
                <a:ext cx="966079" cy="1296435"/>
              </a:xfrm>
              <a:prstGeom prst="rect">
                <a:avLst/>
              </a:prstGeom>
            </p:spPr>
          </p:pic>
          <p:pic>
            <p:nvPicPr>
              <p:cNvPr id="28" name="Picture 10">
                <a:extLst>
                  <a:ext uri="{FF2B5EF4-FFF2-40B4-BE49-F238E27FC236}">
                    <a16:creationId xmlns:a16="http://schemas.microsoft.com/office/drawing/2014/main" id="{18E83404-201C-4C3D-8CE5-B867FB68EB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79827" y="3635706"/>
                <a:ext cx="791162" cy="785348"/>
              </a:xfrm>
              <a:prstGeom prst="rect">
                <a:avLst/>
              </a:prstGeom>
            </p:spPr>
          </p:pic>
          <p:pic>
            <p:nvPicPr>
              <p:cNvPr id="29" name="Picture 11">
                <a:extLst>
                  <a:ext uri="{FF2B5EF4-FFF2-40B4-BE49-F238E27FC236}">
                    <a16:creationId xmlns:a16="http://schemas.microsoft.com/office/drawing/2014/main" id="{F25DFED9-36FB-41DA-B82D-36D302E7A1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492458" y="2801324"/>
                <a:ext cx="1401116" cy="802826"/>
              </a:xfrm>
              <a:prstGeom prst="rect">
                <a:avLst/>
              </a:prstGeom>
            </p:spPr>
          </p:pic>
        </p:grpSp>
        <p:pic>
          <p:nvPicPr>
            <p:cNvPr id="24" name="Grafik 23">
              <a:extLst>
                <a:ext uri="{FF2B5EF4-FFF2-40B4-BE49-F238E27FC236}">
                  <a16:creationId xmlns:a16="http://schemas.microsoft.com/office/drawing/2014/main" id="{DA24CA31-5674-427B-9FE7-DC6C2892D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8889" y="2828449"/>
              <a:ext cx="1944603" cy="2430754"/>
            </a:xfrm>
            <a:prstGeom prst="rect">
              <a:avLst/>
            </a:prstGeom>
          </p:spPr>
        </p:pic>
        <p:pic>
          <p:nvPicPr>
            <p:cNvPr id="25" name="Grafik 24">
              <a:extLst>
                <a:ext uri="{FF2B5EF4-FFF2-40B4-BE49-F238E27FC236}">
                  <a16:creationId xmlns:a16="http://schemas.microsoft.com/office/drawing/2014/main" id="{961B8045-4F64-4B1D-A7BE-FBCE65270C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350" r="11884"/>
            <a:stretch/>
          </p:blipFill>
          <p:spPr>
            <a:xfrm>
              <a:off x="5611176" y="2822362"/>
              <a:ext cx="1251066" cy="24402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752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65970"/>
            <a:ext cx="5334000" cy="2000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389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GB" sz="2550" b="1" dirty="0" err="1">
                <a:solidFill>
                  <a:srgbClr val="00549F"/>
                </a:solidFill>
                <a:latin typeface="Poppins"/>
              </a:rPr>
              <a:t>TabularRDM</a:t>
            </a:r>
            <a:r>
              <a:rPr lang="en-GB" sz="2550" b="1" dirty="0">
                <a:solidFill>
                  <a:srgbClr val="00549F"/>
                </a:solidFill>
                <a:latin typeface="Poppins"/>
              </a:rPr>
              <a:t>: </a:t>
            </a:r>
            <a:r>
              <a:rPr sz="2550" b="1" i="0" u="none" dirty="0">
                <a:solidFill>
                  <a:srgbClr val="00549F"/>
                </a:solidFill>
                <a:latin typeface="Poppins"/>
              </a:rPr>
              <a:t>Installation 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4697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sz="7200" b="1" i="0" u="none" dirty="0">
                <a:solidFill>
                  <a:srgbClr val="FFFFFF"/>
                </a:solidFill>
                <a:latin typeface="Poppins"/>
              </a:rPr>
              <a:t>v18+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1566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FFFFF"/>
                </a:solidFill>
                <a:latin typeface="Inter SemiBold"/>
              </a:rPr>
              <a:t>Required Node.js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837557"/>
            <a:ext cx="5600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00549F"/>
                </a:solidFill>
                <a:latin typeface="Poppins"/>
              </a:rPr>
              <a:t>Node.js &amp; Package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361432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TabularRDM runs on top of Vite and Node.js. Before getting started, verify that Node.js is installed on your workstation.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963292"/>
            <a:ext cx="53340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 dirty="0">
                <a:solidFill>
                  <a:srgbClr val="475569"/>
                </a:solidFill>
                <a:latin typeface="Inter"/>
              </a:rPr>
              <a:t>You can download the official installer directly from https://nodejs.org/en/download prior to extracting the source package.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D5FC52-B019-41D9-2881-5DF0753B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05" y="2933991"/>
            <a:ext cx="1165255" cy="11273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060"/>
              </a:lnSpc>
            </a:pPr>
            <a:r>
              <a:rPr lang="en-GB" sz="2550" b="1" dirty="0" err="1">
                <a:solidFill>
                  <a:srgbClr val="00549F"/>
                </a:solidFill>
                <a:latin typeface="Poppins"/>
              </a:rPr>
              <a:t>TabularRDM</a:t>
            </a:r>
            <a:r>
              <a:rPr lang="en-GB" sz="2550" b="1" dirty="0">
                <a:solidFill>
                  <a:srgbClr val="00549F"/>
                </a:solidFill>
                <a:latin typeface="Poppins"/>
              </a:rPr>
              <a:t>:  </a:t>
            </a:r>
            <a:r>
              <a:rPr sz="2550" b="1" i="0" u="none" dirty="0">
                <a:solidFill>
                  <a:srgbClr val="00549F"/>
                </a:solidFill>
                <a:latin typeface="Poppins"/>
              </a:rPr>
              <a:t>Step-by-Step Installation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5990" y="1313770"/>
            <a:ext cx="11049000" cy="5381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2436" y="1466170"/>
            <a:ext cx="10344150" cy="2333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Download &amp; Extract: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Scan the source QR code, select 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Select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Code / Download ZIP, and unzip the project directory on your local device.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7006" y="1313770"/>
            <a:ext cx="38100" cy="538162"/>
          </a:xfrm>
          <a:prstGeom prst="rect">
            <a:avLst/>
          </a:prstGeom>
          <a:solidFill>
            <a:srgbClr val="009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445337"/>
            <a:ext cx="11049000" cy="69818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47750" y="3548743"/>
            <a:ext cx="1034415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Open Terminal: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Navigate into the unzipped folder. </a:t>
            </a:r>
            <a:r>
              <a:rPr sz="1200" b="0" i="1" u="none" dirty="0">
                <a:solidFill>
                  <a:srgbClr val="334155"/>
                </a:solidFill>
                <a:latin typeface="Inter"/>
              </a:rPr>
              <a:t>Windows Users: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Open </a:t>
            </a:r>
            <a:r>
              <a:rPr lang="en-GB" sz="1200" b="0" i="0" u="none" dirty="0">
                <a:solidFill>
                  <a:srgbClr val="334155"/>
                </a:solidFill>
                <a:latin typeface="Inter"/>
              </a:rPr>
              <a:t>a </a:t>
            </a:r>
            <a:r>
              <a:rPr lang="en-GB" sz="1200" dirty="0">
                <a:solidFill>
                  <a:srgbClr val="334155"/>
                </a:solidFill>
                <a:latin typeface="Inter"/>
              </a:rPr>
              <a:t>t</a:t>
            </a:r>
            <a:r>
              <a:rPr lang="en-GB" sz="1200" b="0" i="0" u="none" dirty="0">
                <a:solidFill>
                  <a:srgbClr val="334155"/>
                </a:solidFill>
                <a:latin typeface="Inter"/>
              </a:rPr>
              <a:t>erminal window in the directory and type: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cmd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3396343"/>
            <a:ext cx="38100" cy="766762"/>
          </a:xfrm>
          <a:prstGeom prst="rect">
            <a:avLst/>
          </a:prstGeom>
          <a:solidFill>
            <a:srgbClr val="009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315505"/>
            <a:ext cx="11049000" cy="5381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7750" y="4467905"/>
            <a:ext cx="1034415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Install Dependencies: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Execute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npm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install</a:t>
            </a:r>
            <a:r>
              <a:rPr lang="en-GB"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in your terminal to fetch required Node components and dependencies.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315505"/>
            <a:ext cx="38100" cy="538162"/>
          </a:xfrm>
          <a:prstGeom prst="rect">
            <a:avLst/>
          </a:prstGeom>
          <a:solidFill>
            <a:srgbClr val="009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5006068"/>
            <a:ext cx="11049000" cy="53816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7750" y="5158468"/>
            <a:ext cx="10344150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Launch Local Server: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Run </a:t>
            </a:r>
            <a:r>
              <a:rPr sz="1200" b="1" i="0" u="none" dirty="0" err="1">
                <a:solidFill>
                  <a:srgbClr val="334155"/>
                </a:solidFill>
                <a:latin typeface="Inter"/>
              </a:rPr>
              <a:t>npm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 run dev 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and navigate </a:t>
            </a:r>
            <a:r>
              <a:rPr sz="1200" b="1" i="0" u="none" dirty="0">
                <a:solidFill>
                  <a:srgbClr val="334155"/>
                </a:solidFill>
                <a:latin typeface="Inter"/>
              </a:rPr>
              <a:t>to http://localhost:5173/ 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in your browser to start working.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006068"/>
            <a:ext cx="38100" cy="538162"/>
          </a:xfrm>
          <a:prstGeom prst="rect">
            <a:avLst/>
          </a:prstGeom>
          <a:solidFill>
            <a:srgbClr val="0098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736" y="1480458"/>
            <a:ext cx="19050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" y="3563030"/>
            <a:ext cx="219075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4482193"/>
            <a:ext cx="23812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5172755"/>
            <a:ext cx="190500" cy="200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1EB1C29-0043-FE32-A88E-4A1F4182EC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286" y="1866219"/>
            <a:ext cx="1521279" cy="14124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A63B43-CD52-18E8-4E87-C30A060C4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81D23-A0D6-9E30-4DFB-DA73BBE7DBB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E254F40-A5F7-D8BD-1FA9-83B46652431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391150" y="1353306"/>
            <a:ext cx="6477000" cy="4264101"/>
          </a:xfrm>
          <a:prstGeom prst="rect">
            <a:avLst/>
          </a:prstGeom>
        </p:spPr>
      </p:pic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C607420D-77A8-6211-082C-D674ABD888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92582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29EEF285-3300-4C7A-CDC0-051A6BCDDA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771586"/>
              </p:ext>
            </p:extLst>
          </p:nvPr>
        </p:nvGraphicFramePr>
        <p:xfrm>
          <a:off x="417020" y="5039133"/>
          <a:ext cx="4254040" cy="578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769321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148473B6-744B-FEE7-3B3F-87879395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59016B53-50F7-F1EF-C90C-1D443215259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5391150" y="1353306"/>
            <a:ext cx="6477000" cy="3139553"/>
          </a:xfrm>
          <a:prstGeom prst="rect">
            <a:avLst/>
          </a:prstGeom>
        </p:spPr>
      </p:pic>
      <p:graphicFrame>
        <p:nvGraphicFramePr>
          <p:cNvPr id="31" name="Diagram 30">
            <a:extLst>
              <a:ext uri="{FF2B5EF4-FFF2-40B4-BE49-F238E27FC236}">
                <a16:creationId xmlns:a16="http://schemas.microsoft.com/office/drawing/2014/main" id="{3659962C-7984-6A45-9DBB-9421359778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0990769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6024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68337-B446-53B1-26F6-0E705F546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98DBAB-B537-3417-A685-451D29B9F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A9DC5B-8105-87D9-78A3-9B5FE33FC9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59EA59B2-8F45-9810-7216-358B027A76E2}"/>
              </a:ext>
            </a:extLst>
          </p:cNvPr>
          <p:cNvGraphicFramePr/>
          <p:nvPr/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723AFC1E-DCD2-7E83-A081-41C370F590D3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7"/>
          <a:stretch>
            <a:fillRect/>
          </a:stretch>
        </p:blipFill>
        <p:spPr>
          <a:xfrm>
            <a:off x="5433489" y="1353306"/>
            <a:ext cx="6434661" cy="42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868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16316C8-1A00-CC21-7DB8-BBF9CFDB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3A3934F0-9AD6-4F38-E6A0-46F777AE871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747826" y="1353306"/>
            <a:ext cx="5120324" cy="4264101"/>
          </a:xfrm>
          <a:prstGeom prst="rect">
            <a:avLst/>
          </a:prstGeom>
        </p:spPr>
      </p:pic>
      <p:graphicFrame>
        <p:nvGraphicFramePr>
          <p:cNvPr id="20" name="Diagram 19">
            <a:extLst>
              <a:ext uri="{FF2B5EF4-FFF2-40B4-BE49-F238E27FC236}">
                <a16:creationId xmlns:a16="http://schemas.microsoft.com/office/drawing/2014/main" id="{9A1CEFE4-89B9-4598-6408-AB5920D12A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4703557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1C2007D3-856C-D466-E02A-29746AD086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5877127"/>
              </p:ext>
            </p:extLst>
          </p:nvPr>
        </p:nvGraphicFramePr>
        <p:xfrm>
          <a:off x="384000" y="3884959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364519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6DB2A-A6C1-89A7-F6E2-33219624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3A83F1D-E8DE-A2A5-603F-2F79446FB06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6354622" y="1353306"/>
            <a:ext cx="5513528" cy="4264101"/>
          </a:xfrm>
          <a:prstGeom prst="rect">
            <a:avLst/>
          </a:prstGeom>
        </p:spPr>
      </p:pic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D2A19DB-6ED7-33EB-8B34-3C1838CBC9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7646562"/>
              </p:ext>
            </p:extLst>
          </p:nvPr>
        </p:nvGraphicFramePr>
        <p:xfrm>
          <a:off x="384000" y="1353306"/>
          <a:ext cx="4254040" cy="11003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541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AB662F-2206-6F5A-3EBD-23F4F975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F24179-DFF8-B084-CCEB-692B7AE22E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F90FFF24-8688-AB97-0C25-DF02DF8363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536339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5AEED2A-774F-263C-90E3-3B358FC381FC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8"/>
          <a:stretch>
            <a:fillRect/>
          </a:stretch>
        </p:blipFill>
        <p:spPr>
          <a:xfrm>
            <a:off x="5391150" y="1247408"/>
            <a:ext cx="6477000" cy="447589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AF0109D3-7986-212A-97B8-9E0D35E624F8}"/>
              </a:ext>
            </a:extLst>
          </p:cNvPr>
          <p:cNvSpPr/>
          <p:nvPr/>
        </p:nvSpPr>
        <p:spPr>
          <a:xfrm>
            <a:off x="6226160" y="4130528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24537A-1DA4-E155-5D3A-D06853C4B987}"/>
              </a:ext>
            </a:extLst>
          </p:cNvPr>
          <p:cNvCxnSpPr>
            <a:stCxn id="25" idx="7"/>
          </p:cNvCxnSpPr>
          <p:nvPr/>
        </p:nvCxnSpPr>
        <p:spPr>
          <a:xfrm flipV="1">
            <a:off x="6323721" y="3078622"/>
            <a:ext cx="344399" cy="1069761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54CB612-8F30-0F42-C4FF-B1F2ECABAC08}"/>
              </a:ext>
            </a:extLst>
          </p:cNvPr>
          <p:cNvSpPr/>
          <p:nvPr/>
        </p:nvSpPr>
        <p:spPr>
          <a:xfrm>
            <a:off x="6226160" y="4454864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7CB3E30-D5F6-929A-25AD-46614BE37E93}"/>
              </a:ext>
            </a:extLst>
          </p:cNvPr>
          <p:cNvCxnSpPr>
            <a:cxnSpLocks/>
          </p:cNvCxnSpPr>
          <p:nvPr/>
        </p:nvCxnSpPr>
        <p:spPr>
          <a:xfrm flipV="1">
            <a:off x="6395484" y="3237614"/>
            <a:ext cx="2126511" cy="1254642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206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5BDAE-1945-62B3-BAD7-4286D2C26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C413AD-34B7-8DD7-D3A2-0C9BDC7B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680501-FF4B-40BC-DAA8-90B82CB2C3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095938C-F381-E150-A50B-659E8F8E92B3}"/>
              </a:ext>
            </a:extLst>
          </p:cNvPr>
          <p:cNvGraphicFramePr/>
          <p:nvPr/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4" name="Content Placeholder 23">
            <a:extLst>
              <a:ext uri="{FF2B5EF4-FFF2-40B4-BE49-F238E27FC236}">
                <a16:creationId xmlns:a16="http://schemas.microsoft.com/office/drawing/2014/main" id="{EA70700F-707A-7DEA-A025-BA93D0A5929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8"/>
          <a:stretch>
            <a:fillRect/>
          </a:stretch>
        </p:blipFill>
        <p:spPr>
          <a:xfrm>
            <a:off x="5391150" y="1247408"/>
            <a:ext cx="6477000" cy="447589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DFF7DDA5-66A9-5982-FD95-376E66B8ABB0}"/>
              </a:ext>
            </a:extLst>
          </p:cNvPr>
          <p:cNvSpPr/>
          <p:nvPr/>
        </p:nvSpPr>
        <p:spPr>
          <a:xfrm>
            <a:off x="6226160" y="4130528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48CB4EF-E518-760F-22F0-3F697F6D9363}"/>
              </a:ext>
            </a:extLst>
          </p:cNvPr>
          <p:cNvCxnSpPr>
            <a:stCxn id="25" idx="7"/>
          </p:cNvCxnSpPr>
          <p:nvPr/>
        </p:nvCxnSpPr>
        <p:spPr>
          <a:xfrm flipV="1">
            <a:off x="6323721" y="3078622"/>
            <a:ext cx="344399" cy="1069761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6FA57EFA-A830-8DB7-7D4B-84268F3D7FDE}"/>
              </a:ext>
            </a:extLst>
          </p:cNvPr>
          <p:cNvSpPr/>
          <p:nvPr/>
        </p:nvSpPr>
        <p:spPr>
          <a:xfrm>
            <a:off x="6226160" y="4454864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F36F7E1-4289-07DB-4A5A-6F4E07069E83}"/>
              </a:ext>
            </a:extLst>
          </p:cNvPr>
          <p:cNvCxnSpPr>
            <a:cxnSpLocks/>
          </p:cNvCxnSpPr>
          <p:nvPr/>
        </p:nvCxnSpPr>
        <p:spPr>
          <a:xfrm flipV="1">
            <a:off x="6395484" y="3237614"/>
            <a:ext cx="2126511" cy="1254642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505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6D173-7B00-1544-71EA-062B9066D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6EBAEFE-CABD-6DA8-B708-8CB586AFE48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391150" y="1163312"/>
            <a:ext cx="6477000" cy="464408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0F40B4-EE2E-E771-E183-551AA1DA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AB8399-1D4A-E414-FC32-FB2558851DE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BF708D2E-56AD-B4BC-4A86-F1BAF34232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9677645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2D821D98-F87B-CFB5-57F4-8D8AFEB269B8}"/>
              </a:ext>
            </a:extLst>
          </p:cNvPr>
          <p:cNvSpPr/>
          <p:nvPr/>
        </p:nvSpPr>
        <p:spPr>
          <a:xfrm>
            <a:off x="6281184" y="4905687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4C2B86C-7F27-F153-B110-BA10B327C81D}"/>
              </a:ext>
            </a:extLst>
          </p:cNvPr>
          <p:cNvCxnSpPr>
            <a:cxnSpLocks/>
          </p:cNvCxnSpPr>
          <p:nvPr/>
        </p:nvCxnSpPr>
        <p:spPr>
          <a:xfrm flipV="1">
            <a:off x="6395484" y="3336878"/>
            <a:ext cx="4147412" cy="1568809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71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62A51-1FE6-DA8D-30FE-9FF3BAB7D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A951BB-0864-93BB-02F5-074C063C6AA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391150" y="1712005"/>
            <a:ext cx="6477000" cy="354670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F56D11-A3FA-95AE-D589-BB6A9382F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TabularRDM</a:t>
            </a:r>
            <a:endParaRPr lang="en-DE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13E05F-12CA-D3C1-7858-F53B1F021A9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19FCAD0F-8833-E5E2-EF42-D2C12015C7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609090"/>
              </p:ext>
            </p:extLst>
          </p:nvPr>
        </p:nvGraphicFramePr>
        <p:xfrm>
          <a:off x="384000" y="1353306"/>
          <a:ext cx="4254040" cy="1732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9" name="Oval 28">
            <a:extLst>
              <a:ext uri="{FF2B5EF4-FFF2-40B4-BE49-F238E27FC236}">
                <a16:creationId xmlns:a16="http://schemas.microsoft.com/office/drawing/2014/main" id="{21771E8C-1CDD-6C69-759C-111905EA457E}"/>
              </a:ext>
            </a:extLst>
          </p:cNvPr>
          <p:cNvSpPr/>
          <p:nvPr/>
        </p:nvSpPr>
        <p:spPr>
          <a:xfrm>
            <a:off x="5904629" y="3999362"/>
            <a:ext cx="114300" cy="121920"/>
          </a:xfrm>
          <a:prstGeom prst="ellipse">
            <a:avLst/>
          </a:prstGeom>
          <a:noFill/>
          <a:ln w="38100">
            <a:solidFill>
              <a:srgbClr val="FF0000">
                <a:alpha val="96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CEE453-9905-762B-6AE9-B94E1BD85B9E}"/>
              </a:ext>
            </a:extLst>
          </p:cNvPr>
          <p:cNvCxnSpPr>
            <a:cxnSpLocks/>
          </p:cNvCxnSpPr>
          <p:nvPr/>
        </p:nvCxnSpPr>
        <p:spPr>
          <a:xfrm flipV="1">
            <a:off x="6059156" y="3085754"/>
            <a:ext cx="5109587" cy="974568"/>
          </a:xfrm>
          <a:prstGeom prst="straightConnector1">
            <a:avLst/>
          </a:prstGeom>
          <a:ln w="22225">
            <a:solidFill>
              <a:srgbClr val="FF0000">
                <a:alpha val="60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37BD317B-BDE0-3A43-8286-175444EEA4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424509"/>
              </p:ext>
            </p:extLst>
          </p:nvPr>
        </p:nvGraphicFramePr>
        <p:xfrm>
          <a:off x="417020" y="5039133"/>
          <a:ext cx="4254040" cy="578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296253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B5DCF5-60ED-66B1-4BD8-D76C3DFC3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869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cd991bf-f022-4378-96e7-2c338aeb3f5a"/>
  <p:tag name="EE4P_AGENDAWIZARD" val="&lt;ee4p&gt;&lt;layouts&gt;&lt;layout name=&quot;Box 1&quot; id=&quot;1_1&quot;&gt;&lt;standard&gt;&lt;textframe horizontalAnchor=&quot;1&quot; marginBottom=&quot;6&quot; marginLeft=&quot;0&quot; marginRight=&quot;0&quot; marginTop=&quot;6&quot; orientation=&quot;1&quot; verticalAnchor=&quot;1&quot; /&gt;&lt;font name=&quot;Arial&quot; bold=&quot;0&quot; italic=&quot;0&quot; color=&quot;13&quot; /&gt;&lt;paragraphformat firstLineIndent=&quot;0&quot; leftIndent=&quot;0&quot; rightIndent=&quot;0&quot; lineRuleBefore=&quot;&quot; lineRuleWithin=&quot;&quot; lineRuleAfter=&quot;&quot; spaceBefore=&quot;&quot; spaceWithin=&quot;&quot; spaceAfter=&quot;&quot; /&gt;&lt;fill visible=&quot;0&quot; /&gt;&lt;line visible=&quot;0&quot; /&gt;&lt;bulletformat visible=&quot;0&quot; /&gt;&lt;/standard&gt;&lt;agenda name=&quot;New Agenda&quot; title=&quot;Agenda&quot; subtitle=&quot;&quot; sizingModeId=&quot;2&quot; fontSize=&quot;16&quot; fontSizeAuto=&quot;1&quot; startTime=&quot;540&quot; timeFormatId=&quot;1&quot; startItemNo=&quot;1&quot; createSingleAgendaSlide=&quot;1&quot; createSeparatingSlides=&quot;1&quot; createBackupSlide=&quot;1&quot; /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/&gt;&lt;column field=&quot;responsible&quot; label=&quot;Responsible&quot; visible=&quot;1&quot; checked=&quot;1&quot; leftSpacing=&quot;10&quot; rightDistribute=&quot;1&quot; dock=&quot;1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position left=&quot;31.125&quot; top=&quot;133.875&quot; width=&quot;657.75&quot; height=&quot;328.875&quot; /&gt;&lt;!--&#10;      &lt;subtitle&gt;&#10;        &lt;position left=&quot;31.25&quot; top=&quot;92.00031&quot; width=&quot;657.75&quot; height=&quot;19.25&quot;/&gt;&#10;        &lt;font size=&quot;16&quot;/&gt;&#10;        &lt;textframe marginBottom=&quot;0&quot; marginTop=&quot;0&quot;/&gt;&#10;        &lt;paragraphformat alignment=&quot;1&quot;/&gt;&#10;      &lt;/subtitle&gt;&#10;   --&gt;&lt;settings allowedSizingModeIds=&quot;1|2&quot; allowedFontSizes=&quot;8|9|10.5|11|12|14|16|18&quot; allowedTimeFormatIds=&quot;1|2|3&quot; slideLayout=&quot;11&quot; customLayoutName=&quot;Nur Titel|Title Only&quot; customLayoutIndex=&quot;&quot; showBreak=&quot;1&quot; singleAgendaSlideSelected=&quot;0&quot; backupSlideTitle=&quot;Backup: %agendaName%&quot; topMargin=&quot;0&quot; leftMargin=&quot;0&quot; allowedLevels=&quot;4&quot; itemNoFormats=&quot;{1}¦{1}.{2}¦{3:alphaLC}¦{3:alphaLC}.{4:alphaLC}&quot; /&gt;&lt;!-- Agenda item formats --&gt;&lt;cases&gt;&lt;case level=&quot;1&quot; selected=&quot;0&quot; break=&quot;0&quot; topMinSpacing=&quot;5&quot; topMaxSpacing=&quot;5&quot; bottomMinSpacing=&quot;0&quot; bottomMaxSpacing=&quot;0&quot;&gt;&lt;element field=&quot;itemno&quot; type=&quot;autoshape&quot; autoShapeType=&quot;1&quot; indent=&quot;(level-1)*(itemSingleHeight+topicLeftSpacing)&quot; indentType=&quot;1&quot;&gt;&lt;textframe marginLeft=&quot;6&quot; marginRight=&quot;6&quot; verticalAnchor=&quot;3&quot; /&gt;&lt;paragraphformat alignment=&quot;2&quot; /&gt;&lt;fill foreColor=&quot;5&quot; visible=&quot;1&quot; /&gt;&lt;font bold=&quot;1&quot; color=&quot;14&quot; /&gt;&lt;/element&gt;&lt;element field=&quot;topic&quot; type=&quot;autoshape&quot; autoShapeType=&quot;1&quot; indent=&quot;(level-1)*(itemSingleHeight+topicLeftSpacing)&quot; indentType=&quot;2&quot;&gt;&lt;paragraphformat alignment=&quot;1&quot; /&gt;&lt;textframe marginLeft=&quot;6&quot; /&gt;&lt;font bold=&quot;1&quot; /&gt;&lt;/element&gt;&lt;element field=&quot;responsible&quot; type=&quot;autoshape&quot; autoShapeType=&quot;1&quot; indent=&quot;(level-1)*(itemSingleHeight+topicLeftSpacing)&quot; indentType=&quot;1&quot;&gt;&lt;paragraphformat alignment=&quot;1&quot; /&gt;&lt;/element&gt;&lt;element field=&quot;freecolumn&quot; type=&quot;autoshape&quot; autoShapeType=&quot;1&quot; indent=&quot;(level-1)*(itemSingleHeight+topicLeftSpacing)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1&quot; break=&quot;0&quot; topMinSpacing=&quot;5&quot; topMaxSpacing=&quot;5&quot; bottomMinSpacing=&quot;0&quot; bottomMaxSpacing=&quot;0&quot;&gt;&lt;element type=&quot;autoshape&quot; autoShapeType=&quot;1&quot; value=&quot;&quot;&gt;&lt;position left=&quot;level*(itemSingleHeight+topicLeftSpacing)&quot; top=&quot;0&quot; width=&quot;agendaWidth-topicLeftSpacing-itemNoWidth-(level-1)*(itemSingleHeight+topicLeftSpacing)&quot; height=&quot;itemHeight&quot; /&gt;&lt;fill foreColor=&quot;#D9D9D9&quot; visible=&quot;1&quot; /&gt;&lt;/element&gt;&lt;element field=&quot;itemno&quot; type=&quot;autoshape&quot; autoShapeType=&quot;1&quot; indent=&quot;(level-1)*(itemSingleHeight+topicLeftSpacing)&quot; indentType=&quot;1&quot;&gt;&lt;textframe marginLeft=&quot;6&quot; marginRight=&quot;6&quot; verticalAnchor=&quot;3&quot; /&gt;&lt;paragraphformat alignment=&quot;2&quot; /&gt;&lt;fill foreColor=&quot;5&quot; visible=&quot;1&quot; /&gt;&lt;font bold=&quot;1&quot; color=&quot;14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/&gt;&lt;textframe marginLeft=&quot;6&quot; /&gt;&lt;/element&gt;&lt;element field=&quot;responsible&quot; type=&quot;autoshape&quot; autoShapeType=&quot;1&quot; indent=&quot;(level-1)*(itemSingleHeight+topicLeftSpacing)&quot; indentType=&quot;1&quot;&gt;&lt;paragraphformat alignment=&quot;1&quot; /&gt;&lt;/element&gt;&lt;element field=&quot;freecolumn&quot; type=&quot;autoshape&quot; autoShapeType=&quot;1&quot; indent=&quot;(level-1)*(itemSingleHeight+topicLeftSpacing)&quot; indentType=&quot;1&quot;&gt;&lt;paragraphformat alignment=&quot;1&quot; /&gt;&lt;/element&gt;&lt;element field=&quot;timeslot&quot; type=&quot;autoshape&quot; autoShapeType=&quot;1&quot;&gt;&lt;paragraphformat alignment=&quot;1&quot; /&gt;&lt;/element&gt;&lt;element field=&quot;pageno&quot; type=&quot;autoshape&quot; autoShapeType=&quot;1&quot;&gt;&lt;paragraphformat alignment=&quot;3&quot; /&gt;&lt;/element&gt;&lt;/case&gt;&lt;case level=&quot;1&quot; selected=&quot;0&quot; break=&quot;1&quot; topMinSpacing=&quot;5&quot; topMaxSpacing=&quot;5&quot; bottomMinSpacing=&quot;0&quot; bottomMaxSpacing=&quot;0&quot;&gt;&lt;element field=&quot;topic&quot; type=&quot;autoshape&quot; autoShapeType=&quot;1&quot; indent=&quot;(level-1)*(itemSingleHeight+topicLeftSpacing)&quot; indentType=&quot;2&quot;&gt;&lt;paragraphformat alignment=&quot;1&quot; /&gt;&lt;textframe marginLeft=&quot;6&quot; /&gt;&lt;font bold=&quot;1&quot; italic=&quot;1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case level=&quot;1&quot; selected=&quot;1&quot; break=&quot;1&quot; topMinSpacing=&quot;5&quot; topMaxSpacing=&quot;5&quot; bottomMinSpacing=&quot;0&quot; bottomMaxSpacing=&quot;0&quot;&gt;&lt;element type=&quot;autoshape&quot; autoShapeType=&quot;1&quot; value=&quot;&quot;&gt;&lt;position left=&quot;level*(itemSingleHeight+topicLeftSpacing)&quot; top=&quot;0&quot; width=&quot;agendaWidth-topicLeftSpacing-itemNoWidth-(level-1)*(itemSingleHeight+topicLeftSpacing)&quot; height=&quot;itemHeight&quot; /&gt;&lt;fill foreColor=&quot;#D9D9D9&quot; visible=&quot;1&quot; /&gt;&lt;/element&gt;&lt;element field=&quot;topic&quot; type=&quot;autoshape&quot; autoShapeType=&quot;1&quot; indent=&quot;(level-1)*(itemSingleHeight+topicLeftSpacing)&quot; indentType=&quot;2&quot;&gt;&lt;paragraphformat alignment=&quot;1&quot; /&gt;&lt;font bold=&quot;1&quot; italic=&quot;1&quot; /&gt;&lt;textframe marginLeft=&quot;6&quot; /&gt;&lt;/element&gt;&lt;element field=&quot;responsible&quot; type=&quot;autoshape&quot; autoShapeType=&quot;1&quot; indent=&quot;(level-1)*(itemSingleHeight+topicLeftSpacing)&quot; indentType=&quot;1&quot;&gt;&lt;paragraphformat alignment=&quot;1&quot; /&gt;&lt;font italic=&quot;1&quot; /&gt;&lt;/element&gt;&lt;element field=&quot;freecolumn&quot; type=&quot;autoshape&quot; autoShapeType=&quot;1&quot; indent=&quot;(level-1)*(itemSingleHeight+topicLeftSpacing)&quot; indentType=&quot;1&quot;&gt;&lt;paragraphformat alignment=&quot;1&quot; /&gt;&lt;font italic=&quot;1&quot; /&gt;&lt;/element&gt;&lt;element field=&quot;timeslot&quot; type=&quot;autoshape&quot; autoShapeType=&quot;1&quot;&gt;&lt;paragraphformat alignment=&quot;1&quot; /&gt;&lt;font italic=&quot;1&quot; /&gt;&lt;/element&gt;&lt;element field=&quot;pageno&quot; type=&quot;autoshape&quot; autoShapeType=&quot;1&quot;&gt;&lt;paragraphformat alignment=&quot;3&quot; /&gt;&lt;font italic=&quot;1&quot; /&gt;&lt;/element&gt;&lt;/case&gt;&lt;/cases&gt;&lt;!-- Elements on slide independent of items --&gt;&lt;elements&gt;&lt;!--&#10;        &lt;element type=&quot;textbox&quot; zOrder=&quot;1&quot; value=&quot;test&quot;&gt;&#10;          &lt;position left=&quot;0&quot; top=&quot;0&quot; width=&quot;30&quot; height=&quot;30&quot;/&gt;&#10;        &lt;/element&gt;&#10;      --&gt;&lt;/elements&gt;&lt;/layout&gt;&lt;/layouts&gt;&lt;contents&gt;&lt;agenda name=&quot;Blended-Learning&quot; title=&quot;Agenda&quot; subtitle=&quot;&quot; sizingModeId=&quot;2&quot; fontSize=&quot;16&quot; fontSizeAuto=&quot;1&quot; startTime=&quot;660&quot; timeFormatId=&quot;1&quot; startItemNo=&quot;1&quot; createSingleAgendaSlide=&quot;1&quot; createSeparatingSlides=&quot;1&quot; createBackupSlide=&quot;1&quot; layoutId=&quot;1_1&quot; hideSeparatingSlides=&quot;0&quot; createSections=&quot;0&quot; singleSlideId=&quot;8e3698aa-b807-4923-b25d-89c59e2525e1&quot; backupSlideId=&quot;7c5aa06d-91ef-48a2-b761-4c2716a57287&quot;&gt;&lt;columns&gt;&lt;column field=&quot;itemno&quot; label=&quot;No.&quot; checked=&quot;1&quot; leftSpacing=&quot;0&quot; rightSpacing=&quot;0&quot; dock=&quot;1&quot; fixedWidth=&quot;31.50472&quot; /&gt;&lt;column field=&quot;topic&quot; label=&quot;Topic&quot; leftSpacing=&quot;5&quot; rightDistribute=&quot;1&quot; dock=&quot;1&quot; rightSpacing=&quot;0&quot; /&gt;&lt;column field=&quot;responsible&quot; label=&quot;Responsible&quot; visible=&quot;1&quot; checked=&quot;1&quot; leftSpacing=&quot;10&quot; rightDistribute=&quot;1&quot; dock=&quot;1&quot; rightSpacing=&quot;0&quot; /&gt;&lt;column field=&quot;freecolumn&quot; label=&quot;&quot; visible=&quot;1&quot; checked=&quot;0&quot; leftSpacing=&quot;10&quot; rightDistribute=&quot;1&quot; dock=&quot;1&quot; /&gt;&lt;column field=&quot;timeslot&quot; label=&quot;Time Slot&quot; visible=&quot;1&quot; checked=&quot;1&quot; leftSpacing=&quot;10&quot; rightSpacing=&quot;6&quot; dock=&quot;2&quot; /&gt;&lt;column field=&quot;pageno&quot; label=&quot;Page No.&quot; visible=&quot;1&quot; checked=&quot;0&quot; leftSpacing=&quot;10&quot; rightSpacing=&quot;6&quot; dock=&quot;2&quot; /&gt;&lt;/columns&gt;&lt;items&gt;&lt;item duration=&quot;10&quot; id=&quot;c42fc0e3-953b-457a-8d6a-f45ad0fbef90&quot; parentId=&quot;&quot; level=&quot;1&quot; generateAgendaSlide=&quot;0&quot; showAgendaItem=&quot;1&quot; isBreak=&quot;0&quot; topic=&quot;Begrüssung und Einführung&quot; responsible=&quot;Beetz&quot; agendaSlideId=&quot;&quot; /&gt;&lt;item duration=&quot;30&quot; id=&quot;2cf3af41-9dc7-4c0c-966a-8b99ba97c630&quot; parentId=&quot;&quot; level=&quot;1&quot; generateAgendaSlide=&quot;1&quot; showAgendaItem=&quot;1&quot; isBreak=&quot;0&quot; topic=&quot;Digitalisierung in der Lehre an der RWTH &quot; agendaSlideId=&quot;f342d6b3-fdcb-47f5-8918-2fc0ef204720&quot; /&gt;&lt;item duration=&quot;15&quot; id=&quot;8e80773e-56ed-4214-8c09-19fc4d3cf212&quot; parentId=&quot;2cf3af41-9dc7-4c0c-966a-8b99ba97c630&quot; level=&quot;2&quot; generateAgendaSlide=&quot;0&quot; showAgendaItem=&quot;1&quot; isBreak=&quot;0&quot; topic=&quot;Übersicht Aktivitäten an der RWTH und Fördermöglichkeiten (RWTH, Land, Bund etc.)&quot; responsible=&quot;Dr. Knight&quot; agendaSlideId=&quot;&quot; /&gt;&lt;item duration=&quot;15&quot; id=&quot;82a0452d-0180-4d78-ad8f-cf503a1fe560&quot; parentId=&quot;2cf3af41-9dc7-4c0c-966a-8b99ba97c630&quot; level=&quot;2&quot; generateAgendaSlide=&quot;0&quot; showAgendaItem=&quot;1&quot; isBreak=&quot;0&quot; topic=&quot;Blended Learning Aktivität in der Fakultät Bauingenieurwesen am Beispiel ein des Avatr Projekte&quot; responsible=&quot;Prof. Nacken&quot; agendaSlideId=&quot;&quot; /&gt;&lt;item duration=&quot;15&quot; id=&quot;20477edd-7e84-4c40-b5db-bf5eca0e1658&quot; parentId=&quot;2cf3af41-9dc7-4c0c-966a-8b99ba97c630&quot; level=&quot;2&quot; generateAgendaSlide=&quot;0&quot; showAgendaItem=&quot;1&quot; isBreak=&quot;0&quot; topic=&quot;Data.Literacy und andere gemeinsame Projekte des CiL&quot; responsible=&quot;Dr. Persike&quot; agendaSlideId=&quot;&quot; /&gt;&lt;item duration=&quot;15&quot; id=&quot;f1793eae-3dfa-4f14-801c-b47cb514283b&quot; parentId=&quot;2cf3af41-9dc7-4c0c-966a-8b99ba97c630&quot; level=&quot;2&quot; generateAgendaSlide=&quot;0&quot; showAgendaItem=&quot;1&quot; isBreak=&quot;0&quot; topic=&quot;Moodle: Erfahrung und Best Practices&quot; responsible=&quot;Dr. Schnurbusch&quot; agendaSlideId=&quot;&quot; /&gt;&lt;item duration=&quot;15&quot; id=&quot;6c0e40eb-b879-4def-a266-a239cea82e30&quot; parentId=&quot;2cf3af41-9dc7-4c0c-966a-8b99ba97c630&quot; level=&quot;2&quot; generateAgendaSlide=&quot;0&quot; showAgendaItem=&quot;1&quot; isBreak=&quot;0&quot; topic=&quot;Moodle: Erfahrungsbericht und Beste Practices an der Fakutlät Architektur&quot; responsible=&quot;Stachelhaus&quot; agendaSlideId=&quot;&quot; /&gt;&lt;item duration=&quot;15&quot; id=&quot;d28cbf43-fc49-4673-aab1-f440f9e23916&quot; parentId=&quot;&quot; level=&quot;1&quot; generateAgendaSlide=&quot;0&quot; showAgendaItem=&quot;1&quot; isBreak=&quot;0&quot; topic=&quot;Rückfragen und DIsskussion&quot; agendaSlideId=&quot;&quot; /&gt;&lt;item duration=&quot;15&quot; id=&quot;8b5b43a9-d31f-4c84-a6a1-fbf89fdfb8e0&quot; parentId=&quot;&quot; level=&quot;1&quot; generateAgendaSlide=&quot;0&quot; showAgendaItem=&quot;1&quot; isBreak=&quot;1&quot; topic=&quot;Pause&quot; agendaSlideId=&quot;&quot; /&gt;&lt;item duration=&quot;0&quot; id=&quot;4eb153c3-fb49-4887-ab8e-b6f2be8d4769&quot; parentId=&quot;&quot; level=&quot;1&quot; generateAgendaSlide=&quot;1&quot; showAgendaItem=&quot;1&quot; isBreak=&quot;0&quot; topic=&quot;Geförderter Blended Learning Projekte der ersten Förderungsrunde Fak. Architekur&quot; agendaSlideId=&quot;19c1642b-efad-4a13-b713-f7ced328d1e9&quot; /&gt;&lt;item duration=&quot;10&quot; id=&quot;555cf10e-df61-4467-96ce-6c50002e650d&quot; parentId=&quot;4eb153c3-fb49-4887-ab8e-b6f2be8d4769&quot; level=&quot;2&quot; generateAgendaSlide=&quot;0&quot; showAgendaItem=&quot;1&quot; isBreak=&quot;0&quot; topic=&quot;   - edX 2.0&quot; responsible=&quot;Prof. Lohrberg&quot; agendaSlideId=&quot;&quot; /&gt;&lt;item duration=&quot;10&quot; id=&quot;a1683969-2579-4d86-8ab8-ac9fea6ee725&quot; parentId=&quot;4eb153c3-fb49-4887-ab8e-b6f2be8d4769&quot; level=&quot;2&quot; generateAgendaSlide=&quot;0&quot; showAgendaItem=&quot;1&quot; isBreak=&quot;0&quot; topic=&quot;   - ReiffHack&quot; responsible=&quot;Prof. Schmitz&quot; agendaSlideId=&quot;&quot; /&gt;&lt;item duration=&quot;5&quot; id=&quot;ddf6fdd4-1f6a-458c-9a7b-a50d94c173ed&quot; parentId=&quot;4eb153c3-fb49-4887-ab8e-b6f2be8d4769&quot; level=&quot;2&quot; generateAgendaSlide=&quot;0&quot; showAgendaItem=&quot;1&quot; isBreak=&quot;0&quot; topic=&quot;  - IBSW&quot; responsible=&quot;Prof. Polivka&quot; agendaSlideId=&quot;&quot; /&gt;&lt;item duration=&quot;10&quot; id=&quot;feb4e630-e9ad-442e-9bf6-93ca0e65626f&quot; parentId=&quot;4eb153c3-fb49-4887-ab8e-b6f2be8d4769&quot; level=&quot;2&quot; generateAgendaSlide=&quot;0&quot; showAgendaItem=&quot;1&quot; isBreak=&quot;0&quot; topic=&quot;Stand Finalisierung Projekte Phase 1 (Studiolo, Reiff-Comm)&quot; responsible=&quot;Prof. Sowa&quot; agendaSlideId=&quot;&quot; /&gt;&lt;item duration=&quot;60&quot; id=&quot;f44722b9-38e0-4be3-9141-731278491b32&quot; parentId=&quot;&quot; level=&quot;1&quot; generateAgendaSlide=&quot;0&quot; showAgendaItem=&quot;1&quot; isBreak=&quot;0&quot; topic=&quot;Planungen zweite Förderphase: Leitlinien und Förderung&amp;#xD;&amp;#xA;&quot; responsible=&quot;Prof. Schneider, Dr. Kruschwitz&amp;#xD;&amp;#xA;&quot; agendaSlideId=&quot;&quot; /&gt;&lt;item duration=&quot;50&quot; id=&quot;df4b6bcb-30d1-4cde-966e-9394226b26cb&quot; parentId=&quot;&quot; level=&quot;1&quot; generateAgendaSlide=&quot;0&quot; showAgendaItem=&quot;1&quot; isBreak=&quot;0&quot; topic=&quot;Gemeinsame Ideen- und Projektentwicklung Phase 2&quot; agendaSlideId=&quot;&quot; /&gt;&lt;item duration=&quot;10&quot; id=&quot;e3270b1e-94d8-406b-bd87-27a88cd38717&quot; parentId=&quot;&quot; level=&quot;1&quot; generateAgendaSlide=&quot;0&quot; showAgendaItem=&quot;1&quot; isBreak=&quot;0&quot; topic=&quot;Zusammenfassung und Verabschiedung&quot; responsible=&quot;Beetz&quot; agendaSlideId=&quot;&quot; /&gt;&lt;/items&gt;&lt;/agenda&gt;&lt;/contents&gt;&lt;/ee4p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r_DC_2021_16zu9">
  <a:themeElements>
    <a:clrScheme name="Graustuf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source sans">
      <a:majorFont>
        <a:latin typeface="Source Sans Pro Black"/>
        <a:ea typeface="Syntax"/>
        <a:cs typeface="Syntax"/>
      </a:majorFont>
      <a:minorFont>
        <a:latin typeface="Source Sans Pro"/>
        <a:ea typeface="Syntax"/>
        <a:cs typeface="Syntax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rwth_16_9.potx" id="{AB4328C7-4505-4C48-8959-B3176BC373B1}" vid="{9FACB83A-DB48-4F68-99D1-D00C0B439A5A}"/>
    </a:ext>
  </a:extLst>
</a:theme>
</file>

<file path=ppt/theme/theme2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23580129-14C9-4C3E-879A-2245710D70D4}" vid="{8950B005-8122-4F20-A0AC-91C8F7472AF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A4B7488-362F-4159-8024-0C71C6D96B43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DC_16_9_official</Template>
  <TotalTime>487</TotalTime>
  <Words>401</Words>
  <Application>Microsoft Office PowerPoint</Application>
  <PresentationFormat>Widescreen</PresentationFormat>
  <Paragraphs>55</Paragraphs>
  <Slides>13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ＭＳ Ｐゴシック</vt:lpstr>
      <vt:lpstr>Arial</vt:lpstr>
      <vt:lpstr>Calibri</vt:lpstr>
      <vt:lpstr>Inter</vt:lpstr>
      <vt:lpstr>Inter SemiBold</vt:lpstr>
      <vt:lpstr>Poppins</vt:lpstr>
      <vt:lpstr>Source Sans Pro</vt:lpstr>
      <vt:lpstr>Source Serif Pro</vt:lpstr>
      <vt:lpstr>Symbol</vt:lpstr>
      <vt:lpstr>Wingdings</vt:lpstr>
      <vt:lpstr>Master_DC_2021_16zu9</vt:lpstr>
      <vt:lpstr>Präsentation_Master_RWTH_Institute_16zu9</vt:lpstr>
      <vt:lpstr>think-cell Slide</vt:lpstr>
      <vt:lpstr>Research Data Management</vt:lpstr>
      <vt:lpstr>PowerPoint Presentation</vt:lpstr>
      <vt:lpstr>PowerPoint Presentation</vt:lpstr>
      <vt:lpstr>TabularRDM</vt:lpstr>
      <vt:lpstr>TabularRDM</vt:lpstr>
      <vt:lpstr>TabularRDM</vt:lpstr>
      <vt:lpstr>TabularRDM</vt:lpstr>
      <vt:lpstr>TabularRDM</vt:lpstr>
      <vt:lpstr>TabularRDM</vt:lpstr>
      <vt:lpstr>TabularRDM</vt:lpstr>
      <vt:lpstr>TabularRDM</vt:lpstr>
      <vt:lpstr>TabularRDM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Jakob Beetz | DC | RWTH</dc:creator>
  <cp:lastModifiedBy>Jyrki Oraskari</cp:lastModifiedBy>
  <cp:revision>245</cp:revision>
  <dcterms:created xsi:type="dcterms:W3CDTF">2020-05-13T07:31:06Z</dcterms:created>
  <dcterms:modified xsi:type="dcterms:W3CDTF">2026-08-20T16:10:49Z</dcterms:modified>
</cp:coreProperties>
</file>